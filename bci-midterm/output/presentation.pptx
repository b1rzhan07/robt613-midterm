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ROC AUC × 1000</c:v>
                </c:pt>
              </c:strCache>
            </c:strRef>
          </c:tx>
          <c:spPr>
            <a:solidFill>
              <a:srgbClr val="3E5C9A"/>
            </a:solidFill>
            <a:effectLst/>
          </c:spPr>
          <c:invertIfNegative val="0"/>
          <c:dLbls>
            <c:numFmt formatCode="0&quot;.&quot;00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A22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5C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9B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875</c:v>
                </c:pt>
                <c:pt idx="1">
                  <c:v>724</c:v>
                </c:pt>
                <c:pt idx="2">
                  <c:v>810</c:v>
                </c:pt>
              </c:numCache>
            </c:numRef>
          </c:val>
        </c:ser>
        <c:dLbls>
          <c:numFmt formatCode="0&quot;.&quot;000" sourceLinked="0"/>
          <c:txPr>
            <a:bodyPr/>
            <a:lstStyle/>
            <a:p>
              <a:pPr>
                <a:defRPr b="1" i="0" strike="noStrike" sz="1600" u="none">
                  <a:solidFill>
                    <a:srgbClr val="1A22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A22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9525" cap="flat">
              <a:solidFill>
                <a:srgbClr val="D5DB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sz="1300" b="0" i="0" u="none" strike="noStrike">
                    <a:solidFill>
                      <a:srgbClr val="5B6B82"/>
                    </a:solidFill>
                    <a:latin typeface="Arial"/>
                  </a:rPr>
                  <a:t>ROC AUC</a:t>
                </a:r>
              </a:p>
            </c:rich>
          </c:tx>
          <c:layout/>
          <c:overlay val="0"/>
        </c:title>
        <c:numFmt formatCode="0&quot;.&quot;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S8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884</c:v>
                </c:pt>
                <c:pt idx="1">
                  <c:v>765</c:v>
                </c:pt>
                <c:pt idx="2">
                  <c:v>812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S9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883</c:v>
                </c:pt>
                <c:pt idx="1">
                  <c:v>821</c:v>
                </c:pt>
                <c:pt idx="2">
                  <c:v>906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S10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891</c:v>
                </c:pt>
                <c:pt idx="1">
                  <c:v>662</c:v>
                </c:pt>
                <c:pt idx="2">
                  <c:v>770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S11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913</c:v>
                </c:pt>
                <c:pt idx="1">
                  <c:v>721</c:v>
                </c:pt>
                <c:pt idx="2">
                  <c:v>777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S12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869</c:v>
                </c:pt>
                <c:pt idx="1">
                  <c:v>784</c:v>
                </c:pt>
                <c:pt idx="2">
                  <c:v>856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S13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861</c:v>
                </c:pt>
                <c:pt idx="1">
                  <c:v>652</c:v>
                </c:pt>
                <c:pt idx="2">
                  <c:v>738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S14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832</c:v>
                </c:pt>
                <c:pt idx="1">
                  <c:v>626</c:v>
                </c:pt>
                <c:pt idx="2">
                  <c:v>752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S15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Sheet1!$I$2:$I$4</c:f>
              <c:numCache>
                <c:formatCode>General</c:formatCode>
                <c:ptCount val="3"/>
                <c:pt idx="0">
                  <c:v>929</c:v>
                </c:pt>
                <c:pt idx="1">
                  <c:v>700</c:v>
                </c:pt>
                <c:pt idx="2">
                  <c:v>862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S16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Sheet1!$J$2:$J$4</c:f>
              <c:numCache>
                <c:formatCode>General</c:formatCode>
                <c:ptCount val="3"/>
                <c:pt idx="0">
                  <c:v>932</c:v>
                </c:pt>
                <c:pt idx="1">
                  <c:v>835</c:v>
                </c:pt>
                <c:pt idx="2">
                  <c:v>916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S17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Sheet1!$K$2:$K$4</c:f>
              <c:numCache>
                <c:formatCode>General</c:formatCode>
                <c:ptCount val="3"/>
                <c:pt idx="0">
                  <c:v>812</c:v>
                </c:pt>
                <c:pt idx="1">
                  <c:v>609</c:v>
                </c:pt>
                <c:pt idx="2">
                  <c:v>671</c:v>
                </c:pt>
              </c:numCache>
            </c:numRef>
          </c:val>
          <c:smooth val="0"/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S18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Sheet1!$L$2:$L$4</c:f>
              <c:numCache>
                <c:formatCode>General</c:formatCode>
                <c:ptCount val="3"/>
                <c:pt idx="0">
                  <c:v>961</c:v>
                </c:pt>
                <c:pt idx="1">
                  <c:v>837</c:v>
                </c:pt>
                <c:pt idx="2">
                  <c:v>926</c:v>
                </c:pt>
              </c:numCache>
            </c:numRef>
          </c:val>
          <c:smooth val="0"/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S19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Sheet1!$M$2:$M$4</c:f>
              <c:numCache>
                <c:formatCode>General</c:formatCode>
                <c:ptCount val="3"/>
                <c:pt idx="0">
                  <c:v>805</c:v>
                </c:pt>
                <c:pt idx="1">
                  <c:v>663</c:v>
                </c:pt>
                <c:pt idx="2">
                  <c:v>714</c:v>
                </c:pt>
              </c:numCache>
            </c:numRef>
          </c:val>
          <c:smooth val="0"/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S20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Sheet1!$N$2:$N$4</c:f>
              <c:numCache>
                <c:formatCode>General</c:formatCode>
                <c:ptCount val="3"/>
                <c:pt idx="0">
                  <c:v>759</c:v>
                </c:pt>
                <c:pt idx="1">
                  <c:v>671</c:v>
                </c:pt>
                <c:pt idx="2">
                  <c:v>773</c:v>
                </c:pt>
              </c:numCache>
            </c:numRef>
          </c:val>
          <c:smooth val="0"/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S21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Sheet1!$O$2:$O$4</c:f>
              <c:numCache>
                <c:formatCode>General</c:formatCode>
                <c:ptCount val="3"/>
                <c:pt idx="0">
                  <c:v>960</c:v>
                </c:pt>
                <c:pt idx="1">
                  <c:v>758</c:v>
                </c:pt>
                <c:pt idx="2">
                  <c:v>848</c:v>
                </c:pt>
              </c:numCache>
            </c:numRef>
          </c:val>
          <c:smooth val="0"/>
        </c:ser>
        <c:ser>
          <c:idx val="14"/>
          <c:order val="14"/>
          <c:tx>
            <c:strRef>
              <c:f>Sheet1!$P$1</c:f>
              <c:strCache>
                <c:ptCount val="1"/>
                <c:pt idx="0">
                  <c:v>S22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Sheet1!$P$2:$P$4</c:f>
              <c:numCache>
                <c:formatCode>General</c:formatCode>
                <c:ptCount val="3"/>
                <c:pt idx="0">
                  <c:v>884</c:v>
                </c:pt>
                <c:pt idx="1">
                  <c:v>742</c:v>
                </c:pt>
                <c:pt idx="2">
                  <c:v>849</c:v>
                </c:pt>
              </c:numCache>
            </c:numRef>
          </c:val>
          <c:smooth val="0"/>
        </c:ser>
        <c:ser>
          <c:idx val="15"/>
          <c:order val="15"/>
          <c:tx>
            <c:strRef>
              <c:f>Sheet1!$Q$1</c:f>
              <c:strCache>
                <c:ptCount val="1"/>
                <c:pt idx="0">
                  <c:v>S23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Sheet1!$Q$2:$Q$4</c:f>
              <c:numCache>
                <c:formatCode>General</c:formatCode>
                <c:ptCount val="3"/>
                <c:pt idx="0">
                  <c:v>882</c:v>
                </c:pt>
                <c:pt idx="1">
                  <c:v>737</c:v>
                </c:pt>
                <c:pt idx="2">
                  <c:v>789</c:v>
                </c:pt>
              </c:numCache>
            </c:numRef>
          </c:val>
          <c:smooth val="0"/>
        </c:ser>
        <c:ser>
          <c:idx val="16"/>
          <c:order val="16"/>
          <c:tx>
            <c:strRef>
              <c:f>Sheet1!$R$1</c:f>
              <c:strCache>
                <c:ptCount val="1"/>
                <c:pt idx="0">
                  <c:v>S24</c:v>
                </c:pt>
              </c:strCache>
            </c:strRef>
          </c:tx>
          <c:spPr>
            <a:solidFill>
              <a:srgbClr val="B8C2D1"/>
            </a:solidFill>
            <a:ln w="25400" cap="flat">
              <a:solidFill>
                <a:srgbClr val="B8C2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2D1"/>
              </a:solidFill>
              <a:ln w="9525" cap="flat">
                <a:solidFill>
                  <a:srgbClr val="B8C2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Sheet1!$R$2:$R$4</c:f>
              <c:numCache>
                <c:formatCode>General</c:formatCode>
                <c:ptCount val="3"/>
                <c:pt idx="0">
                  <c:v>815</c:v>
                </c:pt>
                <c:pt idx="1">
                  <c:v>729</c:v>
                </c:pt>
                <c:pt idx="2">
                  <c:v>809</c:v>
                </c:pt>
              </c:numCache>
            </c:numRef>
          </c:val>
          <c:smooth val="0"/>
        </c:ser>
        <c:ser>
          <c:idx val="17"/>
          <c:order val="17"/>
          <c:tx>
            <c:strRef>
              <c:f>Sheet1!$S$1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E4572E"/>
            </a:solidFill>
            <a:ln w="254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Sheet1!$S$2:$S$4</c:f>
              <c:numCache>
                <c:formatCode>General</c:formatCode>
                <c:ptCount val="3"/>
                <c:pt idx="0">
                  <c:v>875</c:v>
                </c:pt>
                <c:pt idx="1">
                  <c:v>724</c:v>
                </c:pt>
                <c:pt idx="2">
                  <c:v>810</c:v>
                </c:pt>
              </c:numCache>
            </c:numRef>
          </c:val>
          <c:smooth val="0"/>
        </c:ser>
        <c:ser>
          <c:idx val="18"/>
          <c:order val="18"/>
          <c:tx>
            <c:strRef>
              <c:f>Sheet1!$T$1</c:f>
              <c:strCache>
                <c:ptCount val="1"/>
                <c:pt idx="0">
                  <c:v>Chance</c:v>
                </c:pt>
              </c:strCache>
            </c:strRef>
          </c:tx>
          <c:spPr>
            <a:solidFill>
              <a:srgbClr val="5B6B82"/>
            </a:solidFill>
            <a:ln w="25400" cap="flat">
              <a:solidFill>
                <a:srgbClr val="5B6B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B82"/>
              </a:solidFill>
              <a:ln w="9525" cap="flat">
                <a:solidFill>
                  <a:srgbClr val="5B6B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Within</c:v>
                  </c:pt>
                  <c:pt idx="1">
                    <c:v>LOSO-matched</c:v>
                  </c:pt>
                  <c:pt idx="2">
                    <c:v>LOSO</c:v>
                  </c:pt>
                </c:lvl>
              </c:multiLvlStrCache>
            </c:multiLvlStrRef>
          </c:cat>
          <c:val>
            <c:numRef>
              <c:f>Sheet1!$T$2:$T$4</c:f>
              <c:numCache>
                <c:formatCode>General</c:formatCode>
                <c:ptCount val="3"/>
                <c:pt idx="0">
                  <c:v>500</c:v>
                </c:pt>
                <c:pt idx="1">
                  <c:v>500</c:v>
                </c:pt>
                <c:pt idx="2">
                  <c:v>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A22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400"/>
        </c:scaling>
        <c:delete val="0"/>
        <c:axPos val="l"/>
        <c:majorGridlines>
          <c:spPr>
            <a:ln w="9525" cap="flat">
              <a:solidFill>
                <a:srgbClr val="D5DB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sz="1300" b="0" i="0" u="none" strike="noStrike">
                    <a:solidFill>
                      <a:srgbClr val="5B6B82"/>
                    </a:solidFill>
                    <a:latin typeface="Arial"/>
                  </a:rPr>
                  <a:t>ROC AUC</a:t>
                </a:r>
              </a:p>
            </c:rich>
          </c:tx>
          <c:layout/>
          <c:overlay val="0"/>
        </c:title>
        <c:numFmt formatCode="0&quot;.&quot;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s. Introduce the practical question: can a new user avoid labelled calibration? Make clear that this is an offline, retrospective analysis of BrainInvaders2013a, not a new online BCI. Introduce the four team members and their lead areas. Source: notebook introduction and results/run_manifest.json.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s. Every P300 session normally starts with calibration. H1 asks whether training on other people beats chance. H2 compares transfer with subject-specific calibration. H3 matches training class counts so that quantity alone cannot explain a gap. Barachant and Congedo (2014) motivate generic initialization; Kim and Kim (2025) motivate practical zero-training use with methods outside our scope, which we do not implement. Sources: arXiv:1409.0107 and doi:10.1109/TNSRE.2025.3603979.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s. BrainInvaders2013a, subjects 8–24: each has exactly one session. Subjects 1–7 have eight sessions each (about 1 GB per subject), which does not fit the 30-minute Colab budget, so they are excluded by data size, not by performance. Every included run passes assertions for 80 targets, 400 non-targets, 16 EEG channels and 512 Hz. Units are volts in MNE, reported in µV. Data come from the original Zenodo files and are loaded through MOABB into MNE. Source: notebook stage 1; acquisition paper arXiv:1904.09111.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 s. The PSD shows slow drift below 0.5 Hz and a sharp 50 Hz mains peak, strongest on P7. The FIR band-pass 0.5–20 Hz removes both: after the low-pass, 50 Hz is about −75 dB, so a notch adds nothing (measured in filter_measurements.csv). Data are resampled from 512 to 128 Hz together with the events. A 3.3 s edge guard (the filter half-support) keeps epochs away from recording edges. Filtering is done per run, so nothing crosses held-out runs. Zero-phase filtering uses future samples, so the analysis is offline. Source: notebook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 s. ICA (FastICA, 15 components) is fitted on a 1–20 Hz copy of each unlabelled run and the unmixing is applied to the main band-pass. Fp1/Fp2 serve as ocular proxies because there is no EOG channel. A component is removed only if both a proxy-correlation outlier rule and a frontal-map rule agree. The plot shows the blink-related deflection at Fp1 disappearing while the Pz response is preserved. Then a 100 µV peak-to-peak rejection runs on the cleaned epochs. Full-cohort counts: 3 target / 12 non-target edge drops and 80 / 329 amplitude drops; 97.40% of epochs retained. F6 was flagged as a bad channel and is ignored by rejection; it is not in the decoder montage. Residual artifacts remain possible. Source: notebook stage 3 and qc.csv.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 s. Before any classifier, check that the expected brain response exists. The Pz window 250–600 ms was fixed in advance (notebook 01; Vaineau et al. 2019 report 240–600 ms). Grey lines are individual subjects, red is the grand average; the topomaps show the centro-parietal positivity peaking around 350 ms. 16 of 17 subjects have a positive window mean, mean contrast 2.74 µV. Single-epoch permutations are descriptive only because flashes overlap. The window is never chosen by decoding accuracy. Source: notebook stage 4 and erp.csv.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s. A feature is the mean voltage at one electrode during one 50 ms interval: five sites times sixteen windows over 0–800 ms gives 80 features. The montage was frozen before the full run and does not depend on held-out data. Everything that learns from data — the scaler and the analytic shrinkage of LDA — sits inside one scikit-learn Pipeline and is fitted on training folds only. No hyperparameters are tuned, so no nested CV is needed. The heatmap shows where the target − non-target difference lives for subject 8. Source: notebook stage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 s. All three conditions test exactly the same held-out run of each subject. Within trains on the subject’s other run (leave-one-run-out, never a random epoch split, because overlapping flashes share samples). LOSO trains on all runs of the other 16 users, and an assertion guarantees the test subject is never in training. LOSO-matched subsamples the other users to the same target and non-target counts as Within and averages ten seeded draws. Chance level comes from 200 label permutations within runs. Each subject’s score is the mean over its two test runs. Source: notebook stages 5–6 and comparison_runs.csv.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 s. Bars are means over 17 subjects; each subject is the mean of its two held-out runs, so the SD is between-subject spread. Within reaches 0.875, LOSO 0.810, LOSO-matched 0.724. LOSO-matched is lower than full LOSO, so the amount of external data matters. All 34 LOSO test runs beat their permutation null at p &lt; .05. No bar comes from a random epoch split. Source: comparison_subjects.csv.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 s. Each grey line is one person (mean of two test runs); the coral line is the cohort mean and the slate line is chance. 15 of 17 users lose AUC without calibration. The median Within − LOSO gap (0.072) is several times the median Within fold SD (0.018), though two folds estimate variability poorly. The weakest LOSO subject still reaches 0.671. Source: comparison_subjects.csv.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 s. One subject is one unit. The three directional comparisons use paired Wilcoxon signed-rank tests with Holm correction. Read the median difference together with the adjusted p-value. Excluding pilot subjects 8–10 (n = 14) gives the same conclusions. These are conventional cohort summaries: LOSO models share training users, so p-values are not exact guarantees for new populations. Source: hypothesis_tests.csv and sensitivity_tests.csv.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s. State the outcome as conditional cohort evidence: transfer works well above chance, but calibration still adds about 0.07 AUC, and the amount of external data matters. Then stress the limits: offline preprocessing, flash-level AUC instead of command accuracy, one acquisition protocol, and dependent LOSO models. A negative result would have been equally valid under the rubric. Every teammate should be ready to explain any stage. Source: notebook conclusions and run_manifest.json.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slide. References are background and motivation, not sources of results. The core pipeline follows workshop notebooks 00–06 and cites them where code is reused. AI tools: OpenAI Codex for code review, debugging, API lookup, implementation, statistics checks, plotting and text drafting; Claude Code for checking the submission against the assignment and editing wording. Every number comes from the executed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slide. Direct dependencies are pinned in requirements.txt and actual versions are recorded in the run manifest. The verified run used a fresh Google Colab CPU session with an empty data cache: 7.41 minutes including downloads, all 32 code cells, no errors. The first install needs one runtime restart to reload NumPy. The downloader respects Zenodo rate limits. Source: results/run_manifest.json and results/colab_verification.json.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1E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ROBT613 · MIDTERM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P300 decoder skip calibration?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transfer of a shrinkage-LDA ERP decoder on BrainInvaders2013a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Birzhan Zhunusbekov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Arman Abakov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Nazerke Khamzina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Bekmurat Amangeldiyev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778240" y="914400"/>
            <a:ext cx="2834640" cy="5029200"/>
          </a:xfrm>
          <a:prstGeom prst="roundRect">
            <a:avLst>
              <a:gd name="adj" fmla="val 2581"/>
            </a:avLst>
          </a:prstGeom>
          <a:solidFill>
            <a:srgbClr val="252F4A"/>
          </a:solidFill>
          <a:ln w="12700">
            <a:solidFill>
              <a:srgbClr val="252F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98280" y="1234440"/>
            <a:ext cx="2377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889760"/>
            <a:ext cx="2377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IDs 8–24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2788920"/>
            <a:ext cx="2377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3444240"/>
            <a:ext cx="2377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runs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4343400"/>
            <a:ext cx="2377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 min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4998720"/>
            <a:ext cx="2377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Colab CPU run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1E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other users’ data replace calibration?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P300 session normally starts with a calibration phase. If a decoder trained on other people works out of the box, a new user can start immediately.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033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how much an in-scope linear decoder loses when it skips calibration, and for whom.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20640" y="1691640"/>
            <a:ext cx="6492240" cy="1298448"/>
          </a:xfrm>
          <a:prstGeom prst="roundRect">
            <a:avLst>
              <a:gd name="adj" fmla="val 563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49240" y="2020824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49240" y="2020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works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2585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leave-one-subject-out (LOSO) decoder ranks targets above chance (AUC &gt; 0.5).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120640" y="3172968"/>
            <a:ext cx="6492240" cy="1298448"/>
          </a:xfrm>
          <a:prstGeom prst="roundRect">
            <a:avLst>
              <a:gd name="adj" fmla="val 563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49240" y="3502152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49240" y="3502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33558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still helps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73989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 training beats LOSO on the same held-out run.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120640" y="4654296"/>
            <a:ext cx="6492240" cy="1298448"/>
          </a:xfrm>
          <a:prstGeom prst="roundRect">
            <a:avLst>
              <a:gd name="adj" fmla="val 563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49240" y="498348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4924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48371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more data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52212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still beats LOSO when training class counts are matched (LOSO-matched).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8–10 informed development in an earlier pilot; a sensitivity analysis excludes them (n = 14).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DATA AUDIT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audit and provenance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82712" y="548640"/>
            <a:ext cx="3401568" cy="0"/>
          </a:xfrm>
          <a:prstGeom prst="line">
            <a:avLst/>
          </a:prstGeom>
          <a:noFill/>
          <a:ln w="19050">
            <a:solidFill>
              <a:srgbClr val="D5DB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84048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85048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504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51976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51976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18904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18904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85832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85832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52760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5276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219688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1968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173736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1920240"/>
            <a:ext cx="2103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2453640"/>
            <a:ext cx="210312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(IDs 8–24), one session each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246120" y="173736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74720" y="1920240"/>
            <a:ext cx="2103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25" name="Text 22"/>
          <p:cNvSpPr txBox="1"/>
          <p:nvPr/>
        </p:nvSpPr>
        <p:spPr>
          <a:xfrm>
            <a:off x="3474720" y="2453640"/>
            <a:ext cx="210312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channels at 512 Hz, left-earlobe reference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33832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3566160"/>
            <a:ext cx="2103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4099560"/>
            <a:ext cx="210312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runs in total, two per subject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246120" y="33832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74720" y="3566160"/>
            <a:ext cx="2103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400</a:t>
            </a:r>
            <a:endParaRPr lang="en-US" sz="3200" dirty="0"/>
          </a:p>
        </p:txBody>
      </p:sp>
      <p:sp>
        <p:nvSpPr>
          <p:cNvPr id="31" name="Text 28"/>
          <p:cNvSpPr txBox="1"/>
          <p:nvPr/>
        </p:nvSpPr>
        <p:spPr>
          <a:xfrm>
            <a:off x="3474720" y="4099560"/>
            <a:ext cx="210312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/ non-targets per run (1 : 5)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from the original Zenodo files through MOABB into MNE Raw objects. Every run is checked by assertions before analysis.</a:t>
            </a:r>
            <a:endParaRPr lang="en-US" sz="1500" dirty="0"/>
          </a:p>
        </p:txBody>
      </p:sp>
      <p:pic>
        <p:nvPicPr>
          <p:cNvPr id="33" name="Image 0" descr="Executed notebook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445744"/>
            <a:ext cx="2743200" cy="2698032"/>
          </a:xfrm>
          <a:prstGeom prst="rect">
            <a:avLst/>
          </a:prstGeom>
        </p:spPr>
      </p:pic>
      <p:pic>
        <p:nvPicPr>
          <p:cNvPr id="34" name="Image 1" descr="Executed notebook fig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365026"/>
            <a:ext cx="2743200" cy="2859468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48640" y="63276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sensor layout from the MOABB/MNE montage. Right: raw EEG excerpt with flash events.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SIGNAL INSPECTION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choice backed by the spectrum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82712" y="548640"/>
            <a:ext cx="3401568" cy="0"/>
          </a:xfrm>
          <a:prstGeom prst="line">
            <a:avLst/>
          </a:prstGeom>
          <a:noFill/>
          <a:ln w="19050">
            <a:solidFill>
              <a:srgbClr val="D5DB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85048" y="384048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504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51976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51976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18904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18904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85832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85832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52760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5276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219688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1968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20" name="Image 0" descr="Executed notebook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769" y="1600200"/>
            <a:ext cx="9675982" cy="31546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48640" y="4983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9808" y="5102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0.5–20 Hz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749808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band-pass, zero-phase, fitted per run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355848" y="4983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557016" y="5102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Hz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3557016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resampled from 512 Hz together with the events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163056" y="4983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364224" y="5102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notch</a:t>
            </a:r>
            <a:endParaRPr lang="en-US" sz="2400" dirty="0"/>
          </a:p>
        </p:txBody>
      </p:sp>
      <p:sp>
        <p:nvSpPr>
          <p:cNvPr id="29" name="Text 25"/>
          <p:cNvSpPr txBox="1"/>
          <p:nvPr/>
        </p:nvSpPr>
        <p:spPr>
          <a:xfrm>
            <a:off x="6364224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 is already about −75 dB after the low-pass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8970264" y="4983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171432" y="5102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s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9171432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guard equal to the filter half-support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63276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8: PSD before and after band-pass (left) and the FIR frequency response (right).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ARTIFACTS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handling and quality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82712" y="548640"/>
            <a:ext cx="3401568" cy="0"/>
          </a:xfrm>
          <a:prstGeom prst="line">
            <a:avLst/>
          </a:prstGeom>
          <a:noFill/>
          <a:ln w="19050">
            <a:solidFill>
              <a:srgbClr val="D5DB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85048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504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51976" y="384048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51976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18904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18904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85832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85832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52760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5276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219688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1968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20" name="Image 0" descr="Executed notebook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3961"/>
            <a:ext cx="7315200" cy="2138479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987552" y="4114800"/>
            <a:ext cx="68762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FastICA, 15 components, fitted on a 1–20 Hz copy of each unlabelled run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48640" y="4700016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48640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987552" y="4681728"/>
            <a:ext cx="68762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removed only if the Fp1/Fp2 proxy correlation and the frontal map agree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548640" y="5266944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4864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987552" y="5248656"/>
            <a:ext cx="68762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Peak-to-peak rejection at 100 µV on the cleaned epochs (threshold sweep in notebook)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8321040" y="1645920"/>
            <a:ext cx="3291840" cy="4434840"/>
          </a:xfrm>
          <a:prstGeom prst="roundRect">
            <a:avLst>
              <a:gd name="adj" fmla="val 222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595360" y="1828800"/>
            <a:ext cx="2834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97.4%</a:t>
            </a:r>
            <a:endParaRPr lang="en-US" sz="4400" dirty="0"/>
          </a:p>
        </p:txBody>
      </p:sp>
      <p:sp>
        <p:nvSpPr>
          <p:cNvPr id="32" name="Text 28"/>
          <p:cNvSpPr txBox="1"/>
          <p:nvPr/>
        </p:nvSpPr>
        <p:spPr>
          <a:xfrm>
            <a:off x="8595360" y="2545080"/>
            <a:ext cx="28346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epochs retained across all 34 runs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8595360" y="342900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drops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target / 12 non-target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drops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target / 329 non-target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channel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F6, outside the decoder montage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63276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8, target − non-target at Fp1 and Pz before (dashed) and after ICA.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NEUROPHYSIOLOGY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P300 is there before we decode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82712" y="548640"/>
            <a:ext cx="3401568" cy="0"/>
          </a:xfrm>
          <a:prstGeom prst="line">
            <a:avLst/>
          </a:prstGeom>
          <a:noFill/>
          <a:ln w="19050">
            <a:solidFill>
              <a:srgbClr val="D5DB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85048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504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51976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51976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18904" y="384048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18904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85832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85832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52760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5276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219688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1968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20" name="Image 0" descr="Executed notebook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946289" cy="3063240"/>
          </a:xfrm>
          <a:prstGeom prst="rect">
            <a:avLst/>
          </a:prstGeom>
        </p:spPr>
      </p:pic>
      <p:pic>
        <p:nvPicPr>
          <p:cNvPr id="21" name="Image 1" descr="Executed notebook fig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09160"/>
            <a:ext cx="5645217" cy="15544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406640" y="16916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68096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17</a:t>
            </a:r>
            <a:endParaRPr lang="en-US" sz="3600" dirty="0"/>
          </a:p>
        </p:txBody>
      </p:sp>
      <p:sp>
        <p:nvSpPr>
          <p:cNvPr id="24" name="Text 19"/>
          <p:cNvSpPr txBox="1"/>
          <p:nvPr/>
        </p:nvSpPr>
        <p:spPr>
          <a:xfrm>
            <a:off x="7680960" y="24231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with a positive target − non-target mean at Pz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406640" y="333756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680960" y="3474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2.74 µV</a:t>
            </a:r>
            <a:endParaRPr lang="en-US" sz="3600" dirty="0"/>
          </a:p>
        </p:txBody>
      </p:sp>
      <p:sp>
        <p:nvSpPr>
          <p:cNvPr id="27" name="Text 22"/>
          <p:cNvSpPr txBox="1"/>
          <p:nvPr/>
        </p:nvSpPr>
        <p:spPr>
          <a:xfrm>
            <a:off x="7680960" y="4069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Pz contrast in the predeclared window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7406640" y="5074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250–600 ms fixed in advance (notebook 01). It is never tuned on decoding accuracy.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FEATURES AND CLASSIFIER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leakage-free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82712" y="548640"/>
            <a:ext cx="3401568" cy="0"/>
          </a:xfrm>
          <a:prstGeom prst="line">
            <a:avLst/>
          </a:prstGeom>
          <a:noFill/>
          <a:ln w="19050">
            <a:solidFill>
              <a:srgbClr val="D5DB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85048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504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51976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51976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18904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18904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85832" y="384048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85832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52760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5276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219688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1968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35040" y="1572768"/>
            <a:ext cx="5550408" cy="1719072"/>
          </a:xfrm>
          <a:prstGeom prst="roundRect">
            <a:avLst>
              <a:gd name="adj" fmla="val 5319"/>
            </a:avLst>
          </a:prstGeom>
          <a:solidFill>
            <a:srgbClr val="FCEAE5"/>
          </a:solidFill>
          <a:ln w="12700">
            <a:solidFill>
              <a:srgbClr val="E4572E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6217920" y="29718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training folds only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1691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0–800 ms after each flash, 128 Hz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072384" y="2167128"/>
            <a:ext cx="201168" cy="27432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37560" y="1691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20440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features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352044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50 ms window means at Cz, P3, Pz, P4, Oz = 80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861304" y="2167128"/>
            <a:ext cx="201168" cy="27432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26480" y="1691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09360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SD from the training fold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650224" y="2167128"/>
            <a:ext cx="201168" cy="27432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15400" y="1691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98280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LDA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909828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(Ledoit–Wolf) shrinkage</a:t>
            </a:r>
            <a:endParaRPr lang="en-US" sz="1300" dirty="0"/>
          </a:p>
        </p:txBody>
      </p:sp>
      <p:pic>
        <p:nvPicPr>
          <p:cNvPr id="37" name="Image 0" descr="Executed notebook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11880"/>
            <a:ext cx="5113366" cy="260604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6400800" y="3721608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40080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6839712" y="3703320"/>
            <a:ext cx="4773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scikit-learn Pipeline, as in notebook 02</a:t>
            </a:r>
            <a:endParaRPr lang="en-US" sz="1500" dirty="0"/>
          </a:p>
        </p:txBody>
      </p:sp>
      <p:sp>
        <p:nvSpPr>
          <p:cNvPr id="41" name="Shape 37"/>
          <p:cNvSpPr/>
          <p:nvPr/>
        </p:nvSpPr>
        <p:spPr>
          <a:xfrm>
            <a:off x="6400800" y="4343400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40080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6839712" y="4325112"/>
            <a:ext cx="4773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hyperparameters tuned, so nothing is chosen on test data</a:t>
            </a:r>
            <a:endParaRPr lang="en-US" sz="1500" dirty="0"/>
          </a:p>
        </p:txBody>
      </p:sp>
      <p:sp>
        <p:nvSpPr>
          <p:cNvPr id="44" name="Shape 40"/>
          <p:cNvSpPr/>
          <p:nvPr/>
        </p:nvSpPr>
        <p:spPr>
          <a:xfrm>
            <a:off x="6400800" y="4965192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40080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6839712" y="4946904"/>
            <a:ext cx="4773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and windows frozen before the full-cohort run</a:t>
            </a:r>
            <a:endParaRPr lang="en-US" sz="1500" dirty="0"/>
          </a:p>
        </p:txBody>
      </p:sp>
      <p:sp>
        <p:nvSpPr>
          <p:cNvPr id="47" name="Shape 43"/>
          <p:cNvSpPr/>
          <p:nvPr/>
        </p:nvSpPr>
        <p:spPr>
          <a:xfrm>
            <a:off x="6400800" y="5586984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400800" y="5586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5"/>
          <p:cNvSpPr txBox="1"/>
          <p:nvPr/>
        </p:nvSpPr>
        <p:spPr>
          <a:xfrm>
            <a:off x="6839712" y="5568696"/>
            <a:ext cx="4773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in all three conditions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HONEST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test epochs, different training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82712" y="548640"/>
            <a:ext cx="3401568" cy="0"/>
          </a:xfrm>
          <a:prstGeom prst="line">
            <a:avLst/>
          </a:prstGeom>
          <a:noFill/>
          <a:ln w="19050">
            <a:solidFill>
              <a:srgbClr val="D5DB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85048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504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51976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51976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18904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18904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85832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85832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52760" y="384048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5276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219688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1968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1691640"/>
            <a:ext cx="3520440" cy="2971800"/>
          </a:xfrm>
          <a:prstGeom prst="roundRect">
            <a:avLst>
              <a:gd name="adj" fmla="val 24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1901952"/>
            <a:ext cx="274320" cy="274320"/>
          </a:xfrm>
          <a:prstGeom prst="ellipse">
            <a:avLst/>
          </a:prstGeom>
          <a:solidFill>
            <a:srgbClr val="3E5C9A"/>
          </a:solidFill>
          <a:ln w="12700">
            <a:solidFill>
              <a:srgbClr val="3E5C9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8872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26700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subject’s own other run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3429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held-out run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Leave-one-run-out, 2 folds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97680" y="1691640"/>
            <a:ext cx="3520440" cy="2971800"/>
          </a:xfrm>
          <a:prstGeom prst="roundRect">
            <a:avLst>
              <a:gd name="adj" fmla="val 24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1901952"/>
            <a:ext cx="274320" cy="274320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93776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LOSO-matched</a:t>
            </a:r>
            <a:endParaRPr lang="en-US" sz="2100" dirty="0"/>
          </a:p>
        </p:txBody>
      </p:sp>
      <p:sp>
        <p:nvSpPr>
          <p:cNvPr id="31" name="Text 28"/>
          <p:cNvSpPr txBox="1"/>
          <p:nvPr/>
        </p:nvSpPr>
        <p:spPr>
          <a:xfrm>
            <a:off x="4526280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526280" y="26700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16 users, subsampled to the Within class counts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4526280" y="3429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26280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held-out run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452628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seeded draws averaged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046720" y="1691640"/>
            <a:ext cx="3520440" cy="2971800"/>
          </a:xfrm>
          <a:prstGeom prst="roundRect">
            <a:avLst>
              <a:gd name="adj" fmla="val 24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75320" y="1901952"/>
            <a:ext cx="274320" cy="2743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68680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2100" dirty="0"/>
          </a:p>
        </p:txBody>
      </p:sp>
      <p:sp>
        <p:nvSpPr>
          <p:cNvPr id="39" name="Text 36"/>
          <p:cNvSpPr txBox="1"/>
          <p:nvPr/>
        </p:nvSpPr>
        <p:spPr>
          <a:xfrm>
            <a:off x="8275320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8275320" y="26700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runs of the other 16 users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8275320" y="3429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8275320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held-out run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827532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subject asserted absent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4937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28523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(primary) and balanced accuracy; one score per subject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4297680" y="4937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level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4297680" y="528523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label permutations within runs; AUC 0.5 baseline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8046720" y="4937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8046720" y="528523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SD across subjects and across test folds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MEAN AUC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works, calibration still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82712" y="548640"/>
            <a:ext cx="3401568" cy="0"/>
          </a:xfrm>
          <a:prstGeom prst="line">
            <a:avLst/>
          </a:prstGeom>
          <a:noFill/>
          <a:ln w="19050">
            <a:solidFill>
              <a:srgbClr val="D5DB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85048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504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51976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51976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18904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18904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85832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85832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52760" y="384048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5276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219688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1968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1600200"/>
          <a:ext cx="67665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7"/>
          <p:cNvSpPr/>
          <p:nvPr/>
        </p:nvSpPr>
        <p:spPr>
          <a:xfrm>
            <a:off x="7818120" y="1810512"/>
            <a:ext cx="237744" cy="237744"/>
          </a:xfrm>
          <a:prstGeom prst="ellipse">
            <a:avLst/>
          </a:prstGeom>
          <a:solidFill>
            <a:srgbClr val="3E5C9A"/>
          </a:solidFill>
          <a:ln w="12700">
            <a:solidFill>
              <a:srgbClr val="3E5C9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18388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8183880" y="2103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0.875 ± 0.056</a:t>
            </a:r>
            <a:endParaRPr lang="en-US" sz="2600" dirty="0"/>
          </a:p>
        </p:txBody>
      </p:sp>
      <p:sp>
        <p:nvSpPr>
          <p:cNvPr id="24" name="Shape 20"/>
          <p:cNvSpPr/>
          <p:nvPr/>
        </p:nvSpPr>
        <p:spPr>
          <a:xfrm>
            <a:off x="7818120" y="2889504"/>
            <a:ext cx="237744" cy="237744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183880" y="2816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LOSO-matched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8183880" y="3182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0.724 ± 0.071</a:t>
            </a:r>
            <a:endParaRPr lang="en-US" sz="2600" dirty="0"/>
          </a:p>
        </p:txBody>
      </p:sp>
      <p:sp>
        <p:nvSpPr>
          <p:cNvPr id="27" name="Shape 23"/>
          <p:cNvSpPr/>
          <p:nvPr/>
        </p:nvSpPr>
        <p:spPr>
          <a:xfrm>
            <a:off x="7818120" y="3968496"/>
            <a:ext cx="237744" cy="23774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183880" y="3895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8183880" y="42611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0.810 ± 0.072</a:t>
            </a:r>
            <a:endParaRPr lang="en-US" sz="2600" dirty="0"/>
          </a:p>
        </p:txBody>
      </p:sp>
      <p:sp>
        <p:nvSpPr>
          <p:cNvPr id="30" name="Shape 26"/>
          <p:cNvSpPr/>
          <p:nvPr/>
        </p:nvSpPr>
        <p:spPr>
          <a:xfrm>
            <a:off x="7818120" y="5029200"/>
            <a:ext cx="3794760" cy="1097280"/>
          </a:xfrm>
          <a:prstGeom prst="roundRect">
            <a:avLst>
              <a:gd name="adj" fmla="val 6667"/>
            </a:avLst>
          </a:prstGeom>
          <a:solidFill>
            <a:srgbClr val="FCEAE5"/>
          </a:solidFill>
          <a:ln w="12700">
            <a:solidFill>
              <a:srgbClr val="FCEAE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046720" y="513892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34 LOSO test runs beat their permutation null (p &lt; .05)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548640" y="63276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SD across 17 subjects; each subject = mean of 2 held-out runs. Chance AUC = 0.5.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PER SUBJECT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user transfers, but not equally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82712" y="548640"/>
            <a:ext cx="3401568" cy="0"/>
          </a:xfrm>
          <a:prstGeom prst="line">
            <a:avLst/>
          </a:prstGeom>
          <a:noFill/>
          <a:ln w="19050">
            <a:solidFill>
              <a:srgbClr val="D5DB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85048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504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51976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51976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18904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18904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85832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85832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52760" y="384048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5276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219688" y="384048"/>
            <a:ext cx="329184" cy="329184"/>
          </a:xfrm>
          <a:prstGeom prst="ellipse">
            <a:avLst/>
          </a:prstGeom>
          <a:solidFill>
            <a:srgbClr val="EEF1F6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1968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1600200"/>
          <a:ext cx="76809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8686800" y="1691640"/>
            <a:ext cx="3017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17</a:t>
            </a:r>
            <a:endParaRPr lang="en-US" sz="2800" dirty="0"/>
          </a:p>
        </p:txBody>
      </p:sp>
      <p:sp>
        <p:nvSpPr>
          <p:cNvPr id="22" name="Text 18"/>
          <p:cNvSpPr txBox="1"/>
          <p:nvPr/>
        </p:nvSpPr>
        <p:spPr>
          <a:xfrm>
            <a:off x="8686800" y="2164080"/>
            <a:ext cx="30175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score higher with their own calibration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686800" y="2807208"/>
            <a:ext cx="3017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0.072</a:t>
            </a:r>
            <a:endParaRPr lang="en-US" sz="2800" dirty="0"/>
          </a:p>
        </p:txBody>
      </p:sp>
      <p:sp>
        <p:nvSpPr>
          <p:cNvPr id="24" name="Text 20"/>
          <p:cNvSpPr txBox="1"/>
          <p:nvPr/>
        </p:nvSpPr>
        <p:spPr>
          <a:xfrm>
            <a:off x="8686800" y="3279648"/>
            <a:ext cx="30175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Within − LOSO gap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8686800" y="3922776"/>
            <a:ext cx="3017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0.018</a:t>
            </a:r>
            <a:endParaRPr lang="en-US" sz="28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0" y="4395216"/>
            <a:ext cx="30175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Within fold SD (2 folds)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686800" y="5038344"/>
            <a:ext cx="3017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0.671</a:t>
            </a:r>
            <a:endParaRPr lang="en-US" sz="2800" dirty="0"/>
          </a:p>
        </p:txBody>
      </p:sp>
      <p:sp>
        <p:nvSpPr>
          <p:cNvPr id="28" name="Text 24"/>
          <p:cNvSpPr txBox="1"/>
          <p:nvPr/>
        </p:nvSpPr>
        <p:spPr>
          <a:xfrm>
            <a:off x="8686800" y="5510784"/>
            <a:ext cx="30175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LOSO AUC, still above chance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63276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Grey: individual subjects. Coral: cohort mean. Slate: chance (0.5).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· HYPOTHESIS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hypotheses hold in this cohort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82712" y="548640"/>
            <a:ext cx="3401568" cy="0"/>
          </a:xfrm>
          <a:prstGeom prst="line">
            <a:avLst/>
          </a:prstGeom>
          <a:noFill/>
          <a:ln w="19050">
            <a:solidFill>
              <a:srgbClr val="D5DB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85048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504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51976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51976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18904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18904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85832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85832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52760" y="384048"/>
            <a:ext cx="329184" cy="329184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5276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219688" y="384048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21968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16916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1901952"/>
            <a:ext cx="566928" cy="56692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&gt; chance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2697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+0.309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AUC difference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 p = </a:t>
            </a:r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× 10</a:t>
            </a:r>
            <a:pPr indent="0" marL="0">
              <a:buNone/>
            </a:pPr>
            <a:r>
              <a:rPr lang="en-US" sz="1700" b="1" baseline="30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rank-biserial r = 1.00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97680" y="16916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1901952"/>
            <a:ext cx="566928" cy="56692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2628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25780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&gt; LOSO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4526280" y="2697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+0.072</a:t>
            </a:r>
            <a:endParaRPr lang="en-US" sz="4000" dirty="0"/>
          </a:p>
        </p:txBody>
      </p:sp>
      <p:sp>
        <p:nvSpPr>
          <p:cNvPr id="33" name="Text 30"/>
          <p:cNvSpPr txBox="1"/>
          <p:nvPr/>
        </p:nvSpPr>
        <p:spPr>
          <a:xfrm>
            <a:off x="452628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AUC difference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52628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 p = </a:t>
            </a:r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× 10</a:t>
            </a:r>
            <a:pPr indent="0" marL="0">
              <a:buNone/>
            </a:pPr>
            <a:r>
              <a:rPr lang="en-US" sz="1700" b="1" baseline="30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452628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rank-biserial r = 0.90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046720" y="16916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75320" y="1901952"/>
            <a:ext cx="566928" cy="56692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7532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900684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&gt; LOSO-matched</a:t>
            </a:r>
            <a:endParaRPr lang="en-US" sz="1700" dirty="0"/>
          </a:p>
        </p:txBody>
      </p:sp>
      <p:sp>
        <p:nvSpPr>
          <p:cNvPr id="40" name="Text 37"/>
          <p:cNvSpPr txBox="1"/>
          <p:nvPr/>
        </p:nvSpPr>
        <p:spPr>
          <a:xfrm>
            <a:off x="8275320" y="2697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+0.142</a:t>
            </a:r>
            <a:endParaRPr lang="en-US" sz="4000" dirty="0"/>
          </a:p>
        </p:txBody>
      </p:sp>
      <p:sp>
        <p:nvSpPr>
          <p:cNvPr id="41" name="Text 38"/>
          <p:cNvSpPr txBox="1"/>
          <p:nvPr/>
        </p:nvSpPr>
        <p:spPr>
          <a:xfrm>
            <a:off x="827532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AUC difference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827532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 p = </a:t>
            </a:r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× 10</a:t>
            </a:r>
            <a:pPr indent="0" marL="0">
              <a:buNone/>
            </a:pPr>
            <a:r>
              <a:rPr lang="en-US" sz="1700" b="1" baseline="30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827532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rank-biserial r = 1.00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CEAE5"/>
          </a:solidFill>
          <a:ln w="12700">
            <a:solidFill>
              <a:srgbClr val="FCEAE5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7724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without pilot subjects 8–10 (n = 14): </a:t>
            </a:r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 p = </a:t>
            </a:r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× 10</a:t>
            </a:r>
            <a:pPr indent="0" marL="0">
              <a:buNone/>
            </a:pPr>
            <a:r>
              <a:rPr lang="en-US" sz="1500" baseline="30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</a:t>
            </a:r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× 10</a:t>
            </a:r>
            <a:pPr indent="0" marL="0">
              <a:buNone/>
            </a:pPr>
            <a:r>
              <a:rPr lang="en-US" sz="1500" baseline="30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</a:t>
            </a:r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× 10</a:t>
            </a:r>
            <a:pPr indent="0" marL="0">
              <a:buNone/>
            </a:pPr>
            <a:r>
              <a:rPr lang="en-US" sz="1500" baseline="30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</a:t>
            </a:r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H1 / H2 / H3. Same conclusions.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63276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 signed-rank tests across 17 subjects, Holm-corrected for the three primary hypotheses.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 shows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decoder trained only on other users works on a new user </a:t>
            </a:r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(AUC 0.810)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but personal calibration still adds </a:t>
            </a:r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0.072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AUC (median).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external data helps: matching the training size lowers transfer AUC from 0.810 to 0.724.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132320" y="169164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252F4A"/>
          </a:solidFill>
          <a:ln w="12700">
            <a:solidFill>
              <a:srgbClr val="252F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5236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52360" y="2395728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91272" y="237744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zero-phase filters and per-run ICA use future samples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52360" y="3264408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5236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91272" y="324612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Single-flash AUC is not online command accuracy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452360" y="4133088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5236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411480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protocol, 17 single-session users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452360" y="5001768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5236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891272" y="498348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models share training users; p-values summarise this cohort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1E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and AI disclosure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55648"/>
            <a:ext cx="292608" cy="292608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87552" y="1737360"/>
            <a:ext cx="5961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Vaineau et al., “Brain Invaders adaptive versus non-adaptive P300 BCI dataset,” arXiv:1904.09111, 2019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96896"/>
            <a:ext cx="292608" cy="292608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87552" y="2578608"/>
            <a:ext cx="5961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Barachant, M. Congedo, “A Plug&amp;Play P300 BCI using information geometry,” arXiv:1409.0107, 2014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438144"/>
            <a:ext cx="292608" cy="292608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3419856"/>
            <a:ext cx="5961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Kim, S.-P. Kim, “A Plug-and-Play P300-based BCI with zero-training application,” IEEE TNSRE, vol. 33, 2025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279392"/>
            <a:ext cx="292608" cy="292608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" y="4261104"/>
            <a:ext cx="5961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Jayaram, A. Barachant, “MOABB: trustworthy algorithm benchmarking for BCIs,” J. Neural Eng., 2018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292608" cy="292608"/>
          </a:xfrm>
          <a:prstGeom prst="ellipse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5102352"/>
            <a:ext cx="5961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Abibullaev, “ROBT613 BCI Workshop,” notebooks 00–06, github.com/berdakh/ROBT613-BCI-Workshop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06640" y="1691640"/>
            <a:ext cx="4206240" cy="4389120"/>
          </a:xfrm>
          <a:prstGeom prst="roundRect">
            <a:avLst>
              <a:gd name="adj" fmla="val 173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809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review, debugging, API lookup, implementation, statistics checks, plotting, text drafting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check, wording edits, slide generator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tool generated results, citations or dataset facts. Every number comes from the executed notebook.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record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4572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moabb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PyYAML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remotezip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threadpoolctl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16916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89320" y="192024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7.41 min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5989320" y="2453640"/>
            <a:ext cx="23774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Colab CPU run with an empty data cache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732520" y="16916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61120" y="192024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613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8961120" y="2453640"/>
            <a:ext cx="23774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 for ICA, permutations and draws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760720" y="361188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989320" y="384048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5989320" y="4373880"/>
            <a:ext cx="23774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IDs 8–24 listed in the manifest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732520" y="361188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961120" y="3840480"/>
            <a:ext cx="237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3"/>
          <p:cNvSpPr txBox="1"/>
          <p:nvPr/>
        </p:nvSpPr>
        <p:spPr>
          <a:xfrm>
            <a:off x="8961120" y="4373880"/>
            <a:ext cx="23774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across all 32 code cells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760720" y="5623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code lives in functions; the notebook runs top to bottom with versions pinned.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Calibration-free P300 decoding</dc:title>
  <dc:subject>PptxGenJS Presentation</dc:subject>
  <dc:creator>Birzhan Zhunusbekov, Arman Abakov, Nazerke Khamzina, Bekmurat Amangeldiyev</dc:creator>
  <cp:lastModifiedBy>Birzhan Zhunusbekov, Arman Abakov, Nazerke Khamzina, Bekmurat Amangeldiyev</cp:lastModifiedBy>
  <cp:revision>1</cp:revision>
  <dcterms:created xsi:type="dcterms:W3CDTF">2026-10-27T17:07:08Z</dcterms:created>
  <dcterms:modified xsi:type="dcterms:W3CDTF">2026-10-27T17:07:08Z</dcterms:modified>
</cp:coreProperties>
</file>