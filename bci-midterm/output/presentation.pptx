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e9d764216c34015" /><Relationship Type="http://schemas.openxmlformats.org/officeDocument/2006/relationships/extended-properties" Target="/docProps/app.xml" Id="Re43ad618478b42db" /><Relationship Type="http://schemas.openxmlformats.org/officeDocument/2006/relationships/officeDocument" Target="/ppt/presentation.xml" Id="Raec903ff7e064280" /></Relationships>
</file>

<file path=ppt/presentation.xml><?xml version="1.0" encoding="utf-8"?>
<p:presentation xmlns:p="http://schemas.openxmlformats.org/presentationml/2006/main">
  <p:sldMasterIdLst>
    <p:sldMasterId xmlns:r="http://schemas.openxmlformats.org/officeDocument/2006/relationships" id="2147483648" r:id="Re6d3a41cb5024357"/>
  </p:sldMasterIdLst>
  <p:notesMasterIdLst>
    <p:notesMasterId xmlns:r="http://schemas.openxmlformats.org/officeDocument/2006/relationships" r:id="R04af479b98a64f73"/>
  </p:notesMasterIdLst>
  <p:sldIdLst>
    <p:sldId xmlns:r="http://schemas.openxmlformats.org/officeDocument/2006/relationships" id="256" r:id="R3d681bcf34e8401f"/>
    <p:sldId xmlns:r="http://schemas.openxmlformats.org/officeDocument/2006/relationships" id="257" r:id="Refde8070a2a3441f"/>
    <p:sldId xmlns:r="http://schemas.openxmlformats.org/officeDocument/2006/relationships" id="258" r:id="Re8924a05e0d24088"/>
    <p:sldId xmlns:r="http://schemas.openxmlformats.org/officeDocument/2006/relationships" id="259" r:id="Rac9f9850e40c4fce"/>
    <p:sldId xmlns:r="http://schemas.openxmlformats.org/officeDocument/2006/relationships" id="260" r:id="Ra8dff9bf4ce94d2f"/>
    <p:sldId xmlns:r="http://schemas.openxmlformats.org/officeDocument/2006/relationships" id="261" r:id="Rf0cf6c41fab04a57"/>
    <p:sldId xmlns:r="http://schemas.openxmlformats.org/officeDocument/2006/relationships" id="262" r:id="R8c381036ec66436c"/>
    <p:sldId xmlns:r="http://schemas.openxmlformats.org/officeDocument/2006/relationships" id="263" r:id="R705c0c8cf1294add"/>
    <p:sldId xmlns:r="http://schemas.openxmlformats.org/officeDocument/2006/relationships" id="264" r:id="R4fad5dcabb0c4afc"/>
    <p:sldId xmlns:r="http://schemas.openxmlformats.org/officeDocument/2006/relationships" id="265" r:id="R80fc8714dfad4a20"/>
    <p:sldId xmlns:r="http://schemas.openxmlformats.org/officeDocument/2006/relationships" id="266" r:id="R11a90c63cac94613"/>
    <p:sldId xmlns:r="http://schemas.openxmlformats.org/officeDocument/2006/relationships" id="267" r:id="R616cc748961f4d5a"/>
    <p:sldId xmlns:r="http://schemas.openxmlformats.org/officeDocument/2006/relationships" id="268" r:id="R04664b1d826f4c31"/>
    <p:sldId xmlns:r="http://schemas.openxmlformats.org/officeDocument/2006/relationships" id="269" r:id="R063d6196630a4c8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b7716c7cc54d1a" /><Relationship Type="http://schemas.openxmlformats.org/officeDocument/2006/relationships/slideMaster" Target="/ppt/slideMasters/slideMaster1.xml" Id="Re6d3a41cb5024357" /><Relationship Type="http://schemas.openxmlformats.org/officeDocument/2006/relationships/notesMaster" Target="/ppt/notesMasters/notesMaster1.xml" Id="R04af479b98a64f73" /><Relationship Type="http://schemas.openxmlformats.org/officeDocument/2006/relationships/presProps" Target="/ppt/presProps.xml" Id="Ra8042598cd3e469d" /><Relationship Type="http://schemas.openxmlformats.org/officeDocument/2006/relationships/tableStyles" Target="/ppt/tableStyles.xml" Id="Redd8e391fc81493a" /><Relationship Type="http://schemas.openxmlformats.org/officeDocument/2006/relationships/slide" Target="/ppt/slides/slide1.xml" Id="R3d681bcf34e8401f" /><Relationship Type="http://schemas.openxmlformats.org/officeDocument/2006/relationships/slide" Target="/ppt/slides/slide2.xml" Id="Refde8070a2a3441f" /><Relationship Type="http://schemas.openxmlformats.org/officeDocument/2006/relationships/slide" Target="/ppt/slides/slide3.xml" Id="Re8924a05e0d24088" /><Relationship Type="http://schemas.openxmlformats.org/officeDocument/2006/relationships/slide" Target="/ppt/slides/slide4.xml" Id="Rac9f9850e40c4fce" /><Relationship Type="http://schemas.openxmlformats.org/officeDocument/2006/relationships/slide" Target="/ppt/slides/slide5.xml" Id="Ra8dff9bf4ce94d2f" /><Relationship Type="http://schemas.openxmlformats.org/officeDocument/2006/relationships/slide" Target="/ppt/slides/slide6.xml" Id="Rf0cf6c41fab04a57" /><Relationship Type="http://schemas.openxmlformats.org/officeDocument/2006/relationships/slide" Target="/ppt/slides/slide7.xml" Id="R8c381036ec66436c" /><Relationship Type="http://schemas.openxmlformats.org/officeDocument/2006/relationships/slide" Target="/ppt/slides/slide8.xml" Id="R705c0c8cf1294add" /><Relationship Type="http://schemas.openxmlformats.org/officeDocument/2006/relationships/slide" Target="/ppt/slides/slide9.xml" Id="R4fad5dcabb0c4afc" /><Relationship Type="http://schemas.openxmlformats.org/officeDocument/2006/relationships/slide" Target="/ppt/slides/slide10.xml" Id="R80fc8714dfad4a20" /><Relationship Type="http://schemas.openxmlformats.org/officeDocument/2006/relationships/slide" Target="/ppt/slides/slide11.xml" Id="R11a90c63cac94613" /><Relationship Type="http://schemas.openxmlformats.org/officeDocument/2006/relationships/slide" Target="/ppt/slides/slide12.xml" Id="R616cc748961f4d5a" /><Relationship Type="http://schemas.openxmlformats.org/officeDocument/2006/relationships/slide" Target="/ppt/slides/slide13.xml" Id="R04664b1d826f4c31" /><Relationship Type="http://schemas.openxmlformats.org/officeDocument/2006/relationships/slide" Target="/ppt/slides/slide14.xml" Id="R063d6196630a4c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0492a7b6ef44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757ee54558b4c6e" /><Relationship Type="http://schemas.openxmlformats.org/officeDocument/2006/relationships/notesMaster" Target="/ppt/notesMasters/notesMaster1.xml" Id="Ra41e1111e1464c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223259b5c74772" /><Relationship Type="http://schemas.openxmlformats.org/officeDocument/2006/relationships/notesMaster" Target="/ppt/notesMasters/notesMaster1.xml" Id="Rb90a5f7665814b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21c16e6b654afd" /><Relationship Type="http://schemas.openxmlformats.org/officeDocument/2006/relationships/notesMaster" Target="/ppt/notesMasters/notesMaster1.xml" Id="R25a9aa95afe343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376de849e243d1" /><Relationship Type="http://schemas.openxmlformats.org/officeDocument/2006/relationships/notesMaster" Target="/ppt/notesMasters/notesMaster1.xml" Id="R1b24ffe203064b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73e12dde074ecf" /><Relationship Type="http://schemas.openxmlformats.org/officeDocument/2006/relationships/notesMaster" Target="/ppt/notesMasters/notesMaster1.xml" Id="R86d9cd727f684b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b72c4de8264410" /><Relationship Type="http://schemas.openxmlformats.org/officeDocument/2006/relationships/notesMaster" Target="/ppt/notesMasters/notesMaster1.xml" Id="Rb5bae467902741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a4f2754f93409f" /><Relationship Type="http://schemas.openxmlformats.org/officeDocument/2006/relationships/notesMaster" Target="/ppt/notesMasters/notesMaster1.xml" Id="Rd7606b63921142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70528927fe45ac" /><Relationship Type="http://schemas.openxmlformats.org/officeDocument/2006/relationships/notesMaster" Target="/ppt/notesMasters/notesMaster1.xml" Id="Reeb19caf414142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34baeb92204777" /><Relationship Type="http://schemas.openxmlformats.org/officeDocument/2006/relationships/notesMaster" Target="/ppt/notesMasters/notesMaster1.xml" Id="R126b76345e674d9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c8c3f6d50dd45bf" /><Relationship Type="http://schemas.openxmlformats.org/officeDocument/2006/relationships/notesMaster" Target="/ppt/notesMasters/notesMaster1.xml" Id="Rb09de20a1d924c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c01e2a368b4bec" /><Relationship Type="http://schemas.openxmlformats.org/officeDocument/2006/relationships/notesMaster" Target="/ppt/notesMasters/notesMaster1.xml" Id="Re02fb487ebc846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9821a69235c4b82" /><Relationship Type="http://schemas.openxmlformats.org/officeDocument/2006/relationships/notesMaster" Target="/ppt/notesMasters/notesMaster1.xml" Id="Ra57baae466e241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8ec8f8ed7941a9" /><Relationship Type="http://schemas.openxmlformats.org/officeDocument/2006/relationships/notesMaster" Target="/ppt/notesMasters/notesMaster1.xml" Id="R9b20aecaaabb468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2f1b90a6b7490b" /><Relationship Type="http://schemas.openxmlformats.org/officeDocument/2006/relationships/notesMaster" Target="/ppt/notesMasters/notesMaster1.xml" Id="R282a9cddae3f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 Introduce the practical question: can a new user avoid labelled calibration? Explain that this is an offline retrospective analysis of BrainInvaders2013a, not a new online BCI. Names supplied by the team. Source: notebook introduction and results/run_manifest.json.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 H1 asks whether external-subject training beats chance. H2 compares transfer with subject-specific calibration. H3 matches training class counts so quantity alone cannot explain a gap. The 2014 information-geometry paper motivates generic initialization and adaptation. Kim and Kim 2025 motivates practical zero-training use, using out-of-scope methods that we do not implement. Sources: https://arxiv.org/abs/1409.0107 and https://doi.org/10.1109/TNSRE.2025.3603979 (abstract consulted).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 Subjects 8-24 each have one session. Explain why subjects 1-7 are excluded: their longitudinal archives are substantially larger. Every included run must pass assertions for 80 targets, 400 non-targets, 16 EEG channels and 512 Hz. File metadata determines adaptive condition. All data still load through MOABB into MNE. Source: notebook stage 1; acquisition paper https://arxiv.org/abs/1904.09111.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Explain evidence for 0.5-20 Hz rather than presenting defaults. Slow drift motivates high-pass filtering. The low-pass suppresses mains activity, assessed in residual measurements. Events resample together with the data. A half-support edge guard keeps epochs away from recording boundaries. No filtering crosses held-out runs. Zero phase uses future samples, so the conclusion is offline. Source: notebook stage 2 and filter_measurements.csv.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ICA fits a 1-20 Hz copy of each unlabelled run and applies the unmixing to the main band-pass. Fp1/Fp2 are ocular proxies, not measured EOG. Exclusion requires both a proxy correlation outlier and a frontal map. The example plot is not a claim that every ocular artifact disappears. Present the full-cohort retention counts at right. A flagged core site or excessive bad channels stops the notebook for review. Source: notebook stage 3 and qc.csv.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Establish a brain-signal check before classification. The preselected Pz window is 250-600 ms. Grand-average plots weight subjects equally. Point to the positive centro-parietal response and the individual variation. Single-epoch permutations are descriptive because flashes overlap. The physiological check never selects decoder features by their test accuracy. Source: notebook stage 4 and erp.csv.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 Describe a feature as the mean voltage at one electrode during one 50 ms interval. Five sites times sixteen windows gives eighty features. The montage was frozen before the full run and does not depend on held-out flags. The earlier three-person pilot informed the revision. Scaling and shrinkage fit training data only. No hyperparameters are tuned against test AUC. Source: notebook stage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All rows test exactly the same epochs for each subject/run. Within uses the other run from that person. LOSO uses all other people, with an assert excluding the test subject. Matched transfer preserves both target and non-target training counts and averages ten seeded draws. AUC ranks flashes and is distinct from complete command accuracy. Source: notebook stages 5-6 and comparison_runs.csv.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State that the native chart uses subject means, and the printed SD is between-subject spread rather than fold spread. No bar represents a single random split. Interpret the observed ordering without assuming the hypothesis must succeed. Source: comparison_subjects.csv; exact values also appear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Each thin line is one person, averaged across two test runs. The thick line is the cohort mean, and the dotted line is chance. Highlight variation rather than promising universal performance. Compare the median paired gap with the two-fold spread, while noting that two folds estimate variability poorly. Source: comparison_subjects.csv.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One subject is one unit. The three directional primary comparisons use Wilcoxon signed-rank tests and Holm correction. Read both the median difference and adjusted p-value. Pilot-excluded sensitivity uses fourteen evaluation subjects. The tests are conventional cohort summaries: LOSO models share training users, and p-values are not exact guarantees for new populations. Source: hypothesis_tests.csv and sensitivity_tests.csv.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 State the outcome as conditional cohort evidence. Stress the limits of flash AUC, offline preprocessing and one acquisition protocol. A different outcome would still be valid under the project rubric. Explain the verified Colab CPU timing in the backup record. Every teammate should be prepared to explain all stages. Source: notebook conclusions and 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Acquisition and motivation references are background, not imported results. The core follows workshop notebooks 00-06. Codex assisted with implementation, execution, API lookup, statistics, plotting and drafting in this session. All numbers come from the executed notebook. Earlier AI usage remains for the team to confirm. Authors must review and be able to explain every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Exact direct dependencies are pinned and actual versions are in the manifest. The notebook saves figures and CSVs. Execution environment: Google Colab. Cold cache at setup: true. Initial installation required one restart to reload NumPy. The downloader respects Zenodo rate limits. Source: results/run_manifest.json. Saved notebook: https://colab.research.google.com/drive/19qYoD5urhaAcdMhhokzYAZPZuN2ra2Rh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9f2c65c6a846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7e1d4b24574bc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24e7a9dd7704a1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c424620c3b84cb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8a5a2823ddd4fb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87dfb9b2b0f45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7A65C9-B270-4A42-83AB-BB01878AC0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E701444-B55D-48D0-9300-4FCF4296164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62610CC-340C-4642-99E4-463350C95D5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6AE565-C6A3-40B9-8281-055574D5A2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124CE7E-1EAD-4A85-9AF8-678B92D5D1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77F1DE4-583A-4B12-9C55-821FBCB01D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6A279E-94D5-4F7F-A3A8-CF5E8ECFD6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0851478-A314-4AD5-A0E3-4A75B84E88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4CE150-E656-4FB6-906D-369B2FA7BA2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5CE5F64-130D-41B0-85A2-787D7A5090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ddfbd2e91045da" /><Relationship Type="http://schemas.openxmlformats.org/officeDocument/2006/relationships/slideLayout" Target="/ppt/slideLayouts/slideLayout1.xml" Id="R27101a4229a44c3c" /><Relationship Type="http://schemas.openxmlformats.org/officeDocument/2006/relationships/slideLayout" Target="/ppt/slideLayouts/slideLayout2.xml" Id="R7ac873b219814036" /><Relationship Type="http://schemas.openxmlformats.org/officeDocument/2006/relationships/slideLayout" Target="/ppt/slideLayouts/slideLayout3.xml" Id="Rbdffdd521ebd41d7" /><Relationship Type="http://schemas.openxmlformats.org/officeDocument/2006/relationships/slideLayout" Target="/ppt/slideLayouts/slideLayout4.xml" Id="Rf32d5a962c414239" /><Relationship Type="http://schemas.openxmlformats.org/officeDocument/2006/relationships/slideLayout" Target="/ppt/slideLayouts/slideLayout5.xml" Id="Rf489785ef24a431e" /><Relationship Type="http://schemas.openxmlformats.org/officeDocument/2006/relationships/slideLayout" Target="/ppt/slideLayouts/slideLayout6.xml" Id="Rff21d963dbac4e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101a4229a44c3c"/>
    <p:sldLayoutId xmlns:r="http://schemas.openxmlformats.org/officeDocument/2006/relationships" id="2147483650" r:id="R7ac873b219814036"/>
    <p:sldLayoutId xmlns:r="http://schemas.openxmlformats.org/officeDocument/2006/relationships" id="2147483651" r:id="Rbdffdd521ebd41d7"/>
    <p:sldLayoutId xmlns:r="http://schemas.openxmlformats.org/officeDocument/2006/relationships" id="2147483652" r:id="Rf32d5a962c414239"/>
    <p:sldLayoutId xmlns:r="http://schemas.openxmlformats.org/officeDocument/2006/relationships" id="2147483653" r:id="Rf489785ef24a431e"/>
    <p:sldLayoutId xmlns:r="http://schemas.openxmlformats.org/officeDocument/2006/relationships" id="2147483654" r:id="Rff21d963dbac4e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194f0deb53447da" /><Relationship Type="http://schemas.openxmlformats.org/officeDocument/2006/relationships/notesSlide" Target="/ppt/notesSlides/notesSlide1.xml" Id="R1c00030705c04f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5b8e5163ec1414b" /><Relationship Type="http://schemas.openxmlformats.org/officeDocument/2006/relationships/notesSlide" Target="/ppt/notesSlides/notesSlide2.xml" Id="R3594eb05e2c640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bb522c9e1d34b81" /><Relationship Type="http://schemas.openxmlformats.org/officeDocument/2006/relationships/image" Target="/ppt/media/image.png" Id="R1f8ab05bfd2e4aeb" /><Relationship Type="http://schemas.openxmlformats.org/officeDocument/2006/relationships/notesSlide" Target="/ppt/notesSlides/notesSlide3.xml" Id="Rde0aa82ebfa04e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9d43d1cf3a64572" /><Relationship Type="http://schemas.openxmlformats.org/officeDocument/2006/relationships/image" Target="/ppt/media/image2.png" Id="R702c04ea7d334df7" /><Relationship Type="http://schemas.openxmlformats.org/officeDocument/2006/relationships/notesSlide" Target="/ppt/notesSlides/notesSlide4.xml" Id="Reb876880af83407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dac92ae10847d2" /><Relationship Type="http://schemas.openxmlformats.org/officeDocument/2006/relationships/image" Target="/ppt/media/image3.png" Id="R2aecd068a35d4720" /><Relationship Type="http://schemas.openxmlformats.org/officeDocument/2006/relationships/notesSlide" Target="/ppt/notesSlides/notesSlide5.xml" Id="Ree2cf60b6ddc47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352a04002224c12" /><Relationship Type="http://schemas.openxmlformats.org/officeDocument/2006/relationships/image" Target="/ppt/media/image4.png" Id="R4a3e92483d0c483c" /><Relationship Type="http://schemas.openxmlformats.org/officeDocument/2006/relationships/image" Target="/ppt/media/image5.png" Id="R74deb4baf2894ee4" /><Relationship Type="http://schemas.openxmlformats.org/officeDocument/2006/relationships/notesSlide" Target="/ppt/notesSlides/notesSlide6.xml" Id="R9a4f8e0489374f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e7ff0be50264cae" /><Relationship Type="http://schemas.openxmlformats.org/officeDocument/2006/relationships/notesSlide" Target="/ppt/notesSlides/notesSlide7.xml" Id="R617a11dfba2943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483cc35075f4acf" /><Relationship Type="http://schemas.openxmlformats.org/officeDocument/2006/relationships/notesSlide" Target="/ppt/notesSlides/notesSlide8.xml" Id="R6b196baf397e4c2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d98cb9bd7174dce" /><Relationship Type="http://schemas.openxmlformats.org/officeDocument/2006/relationships/chart" Target="/ppt/slides/charts/chart1.xml" Id="Red593b0205e3456d" /><Relationship Type="http://schemas.openxmlformats.org/officeDocument/2006/relationships/notesSlide" Target="/ppt/notesSlides/notesSlide9.xml" Id="R0c78d1ff70eb4a2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f2f5972d055438c" /><Relationship Type="http://schemas.openxmlformats.org/officeDocument/2006/relationships/chart" Target="/ppt/slides/charts/chart2.xml" Id="Rd9849299d9d8417b" /><Relationship Type="http://schemas.openxmlformats.org/officeDocument/2006/relationships/notesSlide" Target="/ppt/notesSlides/notesSlide10.xml" Id="Red31f3c2b71e4e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743295c983149a1" /><Relationship Type="http://schemas.openxmlformats.org/officeDocument/2006/relationships/notesSlide" Target="/ppt/notesSlides/notesSlide11.xml" Id="Rf7433ccba50841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a8f9fcfaeed4d70" /><Relationship Type="http://schemas.openxmlformats.org/officeDocument/2006/relationships/notesSlide" Target="/ppt/notesSlides/notesSlide12.xml" Id="R5ff9b480d22646d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0c9fc1b9e5942f6" /><Relationship Type="http://schemas.openxmlformats.org/officeDocument/2006/relationships/notesSlide" Target="/ppt/notesSlides/notesSlide13.xml" Id="Rdd9429136880453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eca22361e4f4058" /><Relationship Type="http://schemas.openxmlformats.org/officeDocument/2006/relationships/notesSlide" Target="/ppt/notesSlides/notesSlide14.xml" Id="R30bd2b4542b7400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ROC AUC</c:v>
          </c:tx>
          <c:spPr>
            <a:solidFill xmlns:a="http://schemas.openxmlformats.org/drawingml/2006/main">
              <a:srgbClr val="216A93"/>
            </a:solidFill>
          </c:spPr>
          <c:invertIfNegative val="0"/>
          <c:cat>
            <c:strRef>
              <c:f>'Chart Data'!$A$2:$A$4</c:f>
              <c:strCache>
                <c:ptCount val="3"/>
                <c:pt idx="0">
                  <c:v>Within</c:v>
                </c:pt>
                <c:pt idx="1">
                  <c:v>LOSO-matched</c:v>
                </c:pt>
                <c:pt idx="2">
                  <c:v>LOSO</c:v>
                </c:pt>
              </c:strCache>
            </c:strRef>
          </c:cat>
          <c:val>
            <c:numRef>
              <c:f>'Chart Data'!$B$2:$B$4</c:f>
              <c:numCache>
                <c:formatCode>General</c:formatCode>
                <c:ptCount val="3"/>
                <c:pt idx="0">
                  <c:v>0.874837199763</c:v>
                </c:pt>
                <c:pt idx="1">
                  <c:v>0.724307560667</c:v>
                </c:pt>
                <c:pt idx="2">
                  <c:v>0.809969963333</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6E0E7"/>
              </a:solidFill>
            </a:ln>
          </c:spPr>
        </c:majorGridlines>
        <c:title>
          <c:tx>
            <c:rich>
              <a:bodyPr xmlns:a="http://schemas.openxmlformats.org/drawingml/2006/main"/>
              <a:lstStyle xmlns:a="http://schemas.openxmlformats.org/drawingml/2006/main"/>
              <a:p xmlns:a="http://schemas.openxmlformats.org/drawingml/2006/main">
                <a:r>
                  <a:rPr sz="1650">
                    <a:latin typeface="Arial"/>
                    <a:ea typeface="Arial"/>
                    <a:cs typeface="Arial"/>
                  </a:rPr>
                  <a:t>ROC AUC</a:t>
                </a:r>
              </a:p>
            </c:rich>
          </c:tx>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50112"/>
        <c:crossBetween val="between"/>
        <c:majorUnit val="0.2"/>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Subject 8</c:v>
          </c:tx>
          <c:spPr>
            <a:ln xmlns:a="http://schemas.openxmlformats.org/drawingml/2006/main" w="14288">
              <a:solidFill>
                <a:srgbClr val="AABEC9"/>
              </a:solidFill>
            </a:ln>
          </c:spPr>
          <c:marker>
            <c:symbol val="none"/>
          </c:marker>
          <c:cat>
            <c:strRef>
              <c:f>'Chart Data'!$A$2:$A$4</c:f>
              <c:strCache>
                <c:ptCount val="3"/>
                <c:pt idx="0">
                  <c:v>Within</c:v>
                </c:pt>
                <c:pt idx="1">
                  <c:v>LOSO-matched</c:v>
                </c:pt>
                <c:pt idx="2">
                  <c:v>LOSO</c:v>
                </c:pt>
              </c:strCache>
            </c:strRef>
          </c:cat>
          <c:val>
            <c:numRef>
              <c:f>'Chart Data'!$B$2:$B$4</c:f>
              <c:numCache>
                <c:formatCode>0.0</c:formatCode>
                <c:ptCount val="3"/>
                <c:pt idx="0">
                  <c:v>0.884081848272</c:v>
                </c:pt>
                <c:pt idx="1">
                  <c:v>0.764918144998</c:v>
                </c:pt>
                <c:pt idx="2">
                  <c:v>0.812187738237</c:v>
                </c:pt>
              </c:numCache>
            </c:numRef>
          </c:val>
          <c:smooth val="0"/>
        </c:ser>
        <c:ser>
          <c:idx val="1"/>
          <c:order val="1"/>
          <c:tx>
            <c:v>Subject 9</c:v>
          </c:tx>
          <c:spPr>
            <a:ln xmlns:a="http://schemas.openxmlformats.org/drawingml/2006/main" w="14288">
              <a:solidFill>
                <a:srgbClr val="AABEC9"/>
              </a:solidFill>
            </a:ln>
          </c:spPr>
          <c:marker>
            <c:symbol val="none"/>
          </c:marker>
          <c:cat>
            <c:strRef>
              <c:f>'Chart Data'!$C$2:$C$4</c:f>
              <c:strCache>
                <c:ptCount val="3"/>
                <c:pt idx="0">
                  <c:v>Within</c:v>
                </c:pt>
                <c:pt idx="1">
                  <c:v>LOSO-matched</c:v>
                </c:pt>
                <c:pt idx="2">
                  <c:v>LOSO</c:v>
                </c:pt>
              </c:strCache>
            </c:strRef>
          </c:cat>
          <c:val>
            <c:numRef>
              <c:f>'Chart Data'!$D$2:$D$4</c:f>
              <c:numCache>
                <c:formatCode>0.0</c:formatCode>
                <c:ptCount val="3"/>
                <c:pt idx="0">
                  <c:v>0.883350980299</c:v>
                </c:pt>
                <c:pt idx="1">
                  <c:v>0.821086279782</c:v>
                </c:pt>
                <c:pt idx="2">
                  <c:v>0.90553281939</c:v>
                </c:pt>
              </c:numCache>
            </c:numRef>
          </c:val>
          <c:smooth val="0"/>
        </c:ser>
        <c:ser>
          <c:idx val="2"/>
          <c:order val="2"/>
          <c:tx>
            <c:v>Subject 10</c:v>
          </c:tx>
          <c:spPr>
            <a:ln xmlns:a="http://schemas.openxmlformats.org/drawingml/2006/main" w="14288">
              <a:solidFill>
                <a:srgbClr val="AABEC9"/>
              </a:solidFill>
            </a:ln>
          </c:spPr>
          <c:marker>
            <c:symbol val="none"/>
          </c:marker>
          <c:cat>
            <c:strRef>
              <c:f>'Chart Data'!$E$2:$E$4</c:f>
              <c:strCache>
                <c:ptCount val="3"/>
                <c:pt idx="0">
                  <c:v>Within</c:v>
                </c:pt>
                <c:pt idx="1">
                  <c:v>LOSO-matched</c:v>
                </c:pt>
                <c:pt idx="2">
                  <c:v>LOSO</c:v>
                </c:pt>
              </c:strCache>
            </c:strRef>
          </c:cat>
          <c:val>
            <c:numRef>
              <c:f>'Chart Data'!$F$2:$F$4</c:f>
              <c:numCache>
                <c:formatCode>0.0</c:formatCode>
                <c:ptCount val="3"/>
                <c:pt idx="0">
                  <c:v>0.890605186396</c:v>
                </c:pt>
                <c:pt idx="1">
                  <c:v>0.66151214218</c:v>
                </c:pt>
                <c:pt idx="2">
                  <c:v>0.770353471579</c:v>
                </c:pt>
              </c:numCache>
            </c:numRef>
          </c:val>
          <c:smooth val="0"/>
        </c:ser>
        <c:ser>
          <c:idx val="3"/>
          <c:order val="3"/>
          <c:tx>
            <c:v>Subject 11</c:v>
          </c:tx>
          <c:spPr>
            <a:ln xmlns:a="http://schemas.openxmlformats.org/drawingml/2006/main" w="14288">
              <a:solidFill>
                <a:srgbClr val="AABEC9"/>
              </a:solidFill>
            </a:ln>
          </c:spPr>
          <c:marker>
            <c:symbol val="none"/>
          </c:marker>
          <c:cat>
            <c:strRef>
              <c:f>'Chart Data'!$G$2:$G$4</c:f>
              <c:strCache>
                <c:ptCount val="3"/>
                <c:pt idx="0">
                  <c:v>Within</c:v>
                </c:pt>
                <c:pt idx="1">
                  <c:v>LOSO-matched</c:v>
                </c:pt>
                <c:pt idx="2">
                  <c:v>LOSO</c:v>
                </c:pt>
              </c:strCache>
            </c:strRef>
          </c:cat>
          <c:val>
            <c:numRef>
              <c:f>'Chart Data'!$H$2:$H$4</c:f>
              <c:numCache>
                <c:formatCode>0.0</c:formatCode>
                <c:ptCount val="3"/>
                <c:pt idx="0">
                  <c:v>0.912869024318</c:v>
                </c:pt>
                <c:pt idx="1">
                  <c:v>0.72134326454</c:v>
                </c:pt>
                <c:pt idx="2">
                  <c:v>0.776930374891</c:v>
                </c:pt>
              </c:numCache>
            </c:numRef>
          </c:val>
          <c:smooth val="0"/>
        </c:ser>
        <c:ser>
          <c:idx val="4"/>
          <c:order val="4"/>
          <c:tx>
            <c:v>Subject 12</c:v>
          </c:tx>
          <c:spPr>
            <a:ln xmlns:a="http://schemas.openxmlformats.org/drawingml/2006/main" w="14288">
              <a:solidFill>
                <a:srgbClr val="AABEC9"/>
              </a:solidFill>
            </a:ln>
          </c:spPr>
          <c:marker>
            <c:symbol val="none"/>
          </c:marker>
          <c:cat>
            <c:strRef>
              <c:f>'Chart Data'!$I$2:$I$4</c:f>
              <c:strCache>
                <c:ptCount val="3"/>
                <c:pt idx="0">
                  <c:v>Within</c:v>
                </c:pt>
                <c:pt idx="1">
                  <c:v>LOSO-matched</c:v>
                </c:pt>
                <c:pt idx="2">
                  <c:v>LOSO</c:v>
                </c:pt>
              </c:strCache>
            </c:strRef>
          </c:cat>
          <c:val>
            <c:numRef>
              <c:f>'Chart Data'!$J$2:$J$4</c:f>
              <c:numCache>
                <c:formatCode>0.0</c:formatCode>
                <c:ptCount val="3"/>
                <c:pt idx="0">
                  <c:v>0.869234532035</c:v>
                </c:pt>
                <c:pt idx="1">
                  <c:v>0.784452072864</c:v>
                </c:pt>
                <c:pt idx="2">
                  <c:v>0.856033762563</c:v>
                </c:pt>
              </c:numCache>
            </c:numRef>
          </c:val>
          <c:smooth val="0"/>
        </c:ser>
        <c:ser>
          <c:idx val="5"/>
          <c:order val="5"/>
          <c:tx>
            <c:v>Subject 13</c:v>
          </c:tx>
          <c:spPr>
            <a:ln xmlns:a="http://schemas.openxmlformats.org/drawingml/2006/main" w="14288">
              <a:solidFill>
                <a:srgbClr val="AABEC9"/>
              </a:solidFill>
            </a:ln>
          </c:spPr>
          <c:marker>
            <c:symbol val="none"/>
          </c:marker>
          <c:cat>
            <c:strRef>
              <c:f>'Chart Data'!$K$2:$K$4</c:f>
              <c:strCache>
                <c:ptCount val="3"/>
                <c:pt idx="0">
                  <c:v>Within</c:v>
                </c:pt>
                <c:pt idx="1">
                  <c:v>LOSO-matched</c:v>
                </c:pt>
                <c:pt idx="2">
                  <c:v>LOSO</c:v>
                </c:pt>
              </c:strCache>
            </c:strRef>
          </c:cat>
          <c:val>
            <c:numRef>
              <c:f>'Chart Data'!$L$2:$L$4</c:f>
              <c:numCache>
                <c:formatCode>0.0</c:formatCode>
                <c:ptCount val="3"/>
                <c:pt idx="0">
                  <c:v>0.860541893568</c:v>
                </c:pt>
                <c:pt idx="1">
                  <c:v>0.652152582905</c:v>
                </c:pt>
                <c:pt idx="2">
                  <c:v>0.738019122827</c:v>
                </c:pt>
              </c:numCache>
            </c:numRef>
          </c:val>
          <c:smooth val="0"/>
        </c:ser>
        <c:ser>
          <c:idx val="6"/>
          <c:order val="6"/>
          <c:tx>
            <c:v>Subject 14</c:v>
          </c:tx>
          <c:spPr>
            <a:ln xmlns:a="http://schemas.openxmlformats.org/drawingml/2006/main" w="14288">
              <a:solidFill>
                <a:srgbClr val="AABEC9"/>
              </a:solidFill>
            </a:ln>
          </c:spPr>
          <c:marker>
            <c:symbol val="none"/>
          </c:marker>
          <c:cat>
            <c:strRef>
              <c:f>'Chart Data'!$M$2:$M$4</c:f>
              <c:strCache>
                <c:ptCount val="3"/>
                <c:pt idx="0">
                  <c:v>Within</c:v>
                </c:pt>
                <c:pt idx="1">
                  <c:v>LOSO-matched</c:v>
                </c:pt>
                <c:pt idx="2">
                  <c:v>LOSO</c:v>
                </c:pt>
              </c:strCache>
            </c:strRef>
          </c:cat>
          <c:val>
            <c:numRef>
              <c:f>'Chart Data'!$N$2:$N$4</c:f>
              <c:numCache>
                <c:formatCode>0.0</c:formatCode>
                <c:ptCount val="3"/>
                <c:pt idx="0">
                  <c:v>0.831898933457</c:v>
                </c:pt>
                <c:pt idx="1">
                  <c:v>0.626433241399</c:v>
                </c:pt>
                <c:pt idx="2">
                  <c:v>0.752457433919</c:v>
                </c:pt>
              </c:numCache>
            </c:numRef>
          </c:val>
          <c:smooth val="0"/>
        </c:ser>
        <c:ser>
          <c:idx val="7"/>
          <c:order val="7"/>
          <c:tx>
            <c:v>Subject 15</c:v>
          </c:tx>
          <c:spPr>
            <a:ln xmlns:a="http://schemas.openxmlformats.org/drawingml/2006/main" w="14288">
              <a:solidFill>
                <a:srgbClr val="AABEC9"/>
              </a:solidFill>
            </a:ln>
          </c:spPr>
          <c:marker>
            <c:symbol val="none"/>
          </c:marker>
          <c:cat>
            <c:strRef>
              <c:f>'Chart Data'!$O$2:$O$4</c:f>
              <c:strCache>
                <c:ptCount val="3"/>
                <c:pt idx="0">
                  <c:v>Within</c:v>
                </c:pt>
                <c:pt idx="1">
                  <c:v>LOSO-matched</c:v>
                </c:pt>
                <c:pt idx="2">
                  <c:v>LOSO</c:v>
                </c:pt>
              </c:strCache>
            </c:strRef>
          </c:cat>
          <c:val>
            <c:numRef>
              <c:f>'Chart Data'!$P$2:$P$4</c:f>
              <c:numCache>
                <c:formatCode>0.0</c:formatCode>
                <c:ptCount val="3"/>
                <c:pt idx="0">
                  <c:v>0.929261061974</c:v>
                </c:pt>
                <c:pt idx="1">
                  <c:v>0.69953868235</c:v>
                </c:pt>
                <c:pt idx="2">
                  <c:v>0.861733217932</c:v>
                </c:pt>
              </c:numCache>
            </c:numRef>
          </c:val>
          <c:smooth val="0"/>
        </c:ser>
        <c:ser>
          <c:idx val="8"/>
          <c:order val="8"/>
          <c:tx>
            <c:v>Subject 16</c:v>
          </c:tx>
          <c:spPr>
            <a:ln xmlns:a="http://schemas.openxmlformats.org/drawingml/2006/main" w="14288">
              <a:solidFill>
                <a:srgbClr val="AABEC9"/>
              </a:solidFill>
            </a:ln>
          </c:spPr>
          <c:marker>
            <c:symbol val="none"/>
          </c:marker>
          <c:cat>
            <c:strRef>
              <c:f>'Chart Data'!$Q$2:$Q$4</c:f>
              <c:strCache>
                <c:ptCount val="3"/>
                <c:pt idx="0">
                  <c:v>Within</c:v>
                </c:pt>
                <c:pt idx="1">
                  <c:v>LOSO-matched</c:v>
                </c:pt>
                <c:pt idx="2">
                  <c:v>LOSO</c:v>
                </c:pt>
              </c:strCache>
            </c:strRef>
          </c:cat>
          <c:val>
            <c:numRef>
              <c:f>'Chart Data'!$R$2:$R$4</c:f>
              <c:numCache>
                <c:formatCode>0.0</c:formatCode>
                <c:ptCount val="3"/>
                <c:pt idx="0">
                  <c:v>0.931828125</c:v>
                </c:pt>
                <c:pt idx="1">
                  <c:v>0.8351515625</c:v>
                </c:pt>
                <c:pt idx="2">
                  <c:v>0.916390625</c:v>
                </c:pt>
              </c:numCache>
            </c:numRef>
          </c:val>
          <c:smooth val="0"/>
        </c:ser>
        <c:ser>
          <c:idx val="9"/>
          <c:order val="9"/>
          <c:tx>
            <c:v>Subject 17</c:v>
          </c:tx>
          <c:spPr>
            <a:ln xmlns:a="http://schemas.openxmlformats.org/drawingml/2006/main" w="14288">
              <a:solidFill>
                <a:srgbClr val="AABEC9"/>
              </a:solidFill>
            </a:ln>
          </c:spPr>
          <c:marker>
            <c:symbol val="none"/>
          </c:marker>
          <c:cat>
            <c:strRef>
              <c:f>'Chart Data'!$S$2:$S$4</c:f>
              <c:strCache>
                <c:ptCount val="3"/>
                <c:pt idx="0">
                  <c:v>Within</c:v>
                </c:pt>
                <c:pt idx="1">
                  <c:v>LOSO-matched</c:v>
                </c:pt>
                <c:pt idx="2">
                  <c:v>LOSO</c:v>
                </c:pt>
              </c:strCache>
            </c:strRef>
          </c:cat>
          <c:val>
            <c:numRef>
              <c:f>'Chart Data'!$T$2:$T$4</c:f>
              <c:numCache>
                <c:formatCode>0.0</c:formatCode>
                <c:ptCount val="3"/>
                <c:pt idx="0">
                  <c:v>0.812438940921</c:v>
                </c:pt>
                <c:pt idx="1">
                  <c:v>0.609358756481</c:v>
                </c:pt>
                <c:pt idx="2">
                  <c:v>0.671202554402</c:v>
                </c:pt>
              </c:numCache>
            </c:numRef>
          </c:val>
          <c:smooth val="0"/>
        </c:ser>
        <c:ser>
          <c:idx val="10"/>
          <c:order val="10"/>
          <c:tx>
            <c:v>Subject 18</c:v>
          </c:tx>
          <c:spPr>
            <a:ln xmlns:a="http://schemas.openxmlformats.org/drawingml/2006/main" w="14288">
              <a:solidFill>
                <a:srgbClr val="AABEC9"/>
              </a:solidFill>
            </a:ln>
          </c:spPr>
          <c:marker>
            <c:symbol val="none"/>
          </c:marker>
          <c:cat>
            <c:strRef>
              <c:f>'Chart Data'!$U$2:$U$4</c:f>
              <c:strCache>
                <c:ptCount val="3"/>
                <c:pt idx="0">
                  <c:v>Within</c:v>
                </c:pt>
                <c:pt idx="1">
                  <c:v>LOSO-matched</c:v>
                </c:pt>
                <c:pt idx="2">
                  <c:v>LOSO</c:v>
                </c:pt>
              </c:strCache>
            </c:strRef>
          </c:cat>
          <c:val>
            <c:numRef>
              <c:f>'Chart Data'!$V$2:$V$4</c:f>
              <c:numCache>
                <c:formatCode>0.0</c:formatCode>
                <c:ptCount val="3"/>
                <c:pt idx="0">
                  <c:v>0.96146875</c:v>
                </c:pt>
                <c:pt idx="1">
                  <c:v>0.837453125</c:v>
                </c:pt>
                <c:pt idx="2">
                  <c:v>0.92578125</c:v>
                </c:pt>
              </c:numCache>
            </c:numRef>
          </c:val>
          <c:smooth val="0"/>
        </c:ser>
        <c:ser>
          <c:idx val="11"/>
          <c:order val="11"/>
          <c:tx>
            <c:v>Subject 19</c:v>
          </c:tx>
          <c:spPr>
            <a:ln xmlns:a="http://schemas.openxmlformats.org/drawingml/2006/main" w="14288">
              <a:solidFill>
                <a:srgbClr val="AABEC9"/>
              </a:solidFill>
            </a:ln>
          </c:spPr>
          <c:marker>
            <c:symbol val="none"/>
          </c:marker>
          <c:cat>
            <c:strRef>
              <c:f>'Chart Data'!$W$2:$W$4</c:f>
              <c:strCache>
                <c:ptCount val="3"/>
                <c:pt idx="0">
                  <c:v>Within</c:v>
                </c:pt>
                <c:pt idx="1">
                  <c:v>LOSO-matched</c:v>
                </c:pt>
                <c:pt idx="2">
                  <c:v>LOSO</c:v>
                </c:pt>
              </c:strCache>
            </c:strRef>
          </c:cat>
          <c:val>
            <c:numRef>
              <c:f>'Chart Data'!$X$2:$X$4</c:f>
              <c:numCache>
                <c:formatCode>0.0</c:formatCode>
                <c:ptCount val="3"/>
                <c:pt idx="0">
                  <c:v>0.804754528458</c:v>
                </c:pt>
                <c:pt idx="1">
                  <c:v>0.6628784617</c:v>
                </c:pt>
                <c:pt idx="2">
                  <c:v>0.714475111694</c:v>
                </c:pt>
              </c:numCache>
            </c:numRef>
          </c:val>
          <c:smooth val="0"/>
        </c:ser>
        <c:ser>
          <c:idx val="12"/>
          <c:order val="12"/>
          <c:tx>
            <c:v>Subject 20</c:v>
          </c:tx>
          <c:spPr>
            <a:ln xmlns:a="http://schemas.openxmlformats.org/drawingml/2006/main" w="14288">
              <a:solidFill>
                <a:srgbClr val="AABEC9"/>
              </a:solidFill>
            </a:ln>
          </c:spPr>
          <c:marker>
            <c:symbol val="none"/>
          </c:marker>
          <c:cat>
            <c:strRef>
              <c:f>'Chart Data'!$Y$2:$Y$4</c:f>
              <c:strCache>
                <c:ptCount val="3"/>
                <c:pt idx="0">
                  <c:v>Within</c:v>
                </c:pt>
                <c:pt idx="1">
                  <c:v>LOSO-matched</c:v>
                </c:pt>
                <c:pt idx="2">
                  <c:v>LOSO</c:v>
                </c:pt>
              </c:strCache>
            </c:strRef>
          </c:cat>
          <c:val>
            <c:numRef>
              <c:f>'Chart Data'!$Z$2:$Z$4</c:f>
              <c:numCache>
                <c:formatCode>0.0</c:formatCode>
                <c:ptCount val="3"/>
                <c:pt idx="0">
                  <c:v>0.759046875</c:v>
                </c:pt>
                <c:pt idx="1">
                  <c:v>0.6705046875</c:v>
                </c:pt>
                <c:pt idx="2">
                  <c:v>0.773015625</c:v>
                </c:pt>
              </c:numCache>
            </c:numRef>
          </c:val>
          <c:smooth val="0"/>
        </c:ser>
        <c:ser>
          <c:idx val="13"/>
          <c:order val="13"/>
          <c:tx>
            <c:v>Subject 21</c:v>
          </c:tx>
          <c:spPr>
            <a:ln xmlns:a="http://schemas.openxmlformats.org/drawingml/2006/main" w="14288">
              <a:solidFill>
                <a:srgbClr val="AABEC9"/>
              </a:solidFill>
            </a:ln>
          </c:spPr>
          <c:marker>
            <c:symbol val="none"/>
          </c:marker>
          <c:cat>
            <c:strRef>
              <c:f>'Chart Data'!$AA$2:$AA$4</c:f>
              <c:strCache>
                <c:ptCount val="3"/>
                <c:pt idx="0">
                  <c:v>Within</c:v>
                </c:pt>
                <c:pt idx="1">
                  <c:v>LOSO-matched</c:v>
                </c:pt>
                <c:pt idx="2">
                  <c:v>LOSO</c:v>
                </c:pt>
              </c:strCache>
            </c:strRef>
          </c:cat>
          <c:val>
            <c:numRef>
              <c:f>'Chart Data'!$AB$2:$AB$4</c:f>
              <c:numCache>
                <c:formatCode>0.0</c:formatCode>
                <c:ptCount val="3"/>
                <c:pt idx="0">
                  <c:v>0.960427318296</c:v>
                </c:pt>
                <c:pt idx="1">
                  <c:v>0.758214129073</c:v>
                </c:pt>
                <c:pt idx="2">
                  <c:v>0.847904840226</c:v>
                </c:pt>
              </c:numCache>
            </c:numRef>
          </c:val>
          <c:smooth val="0"/>
        </c:ser>
        <c:ser>
          <c:idx val="14"/>
          <c:order val="14"/>
          <c:tx>
            <c:v>Subject 22</c:v>
          </c:tx>
          <c:spPr>
            <a:ln xmlns:a="http://schemas.openxmlformats.org/drawingml/2006/main" w="14288">
              <a:solidFill>
                <a:srgbClr val="AABEC9"/>
              </a:solidFill>
            </a:ln>
          </c:spPr>
          <c:marker>
            <c:symbol val="none"/>
          </c:marker>
          <c:cat>
            <c:strRef>
              <c:f>'Chart Data'!$AC$2:$AC$4</c:f>
              <c:strCache>
                <c:ptCount val="3"/>
                <c:pt idx="0">
                  <c:v>Within</c:v>
                </c:pt>
                <c:pt idx="1">
                  <c:v>LOSO-matched</c:v>
                </c:pt>
                <c:pt idx="2">
                  <c:v>LOSO</c:v>
                </c:pt>
              </c:strCache>
            </c:strRef>
          </c:cat>
          <c:val>
            <c:numRef>
              <c:f>'Chart Data'!$AD$2:$AD$4</c:f>
              <c:numCache>
                <c:formatCode>0.0</c:formatCode>
                <c:ptCount val="3"/>
                <c:pt idx="0">
                  <c:v>0.883546875</c:v>
                </c:pt>
                <c:pt idx="1">
                  <c:v>0.742221875</c:v>
                </c:pt>
                <c:pt idx="2">
                  <c:v>0.849328125</c:v>
                </c:pt>
              </c:numCache>
            </c:numRef>
          </c:val>
          <c:smooth val="0"/>
        </c:ser>
        <c:ser>
          <c:idx val="15"/>
          <c:order val="15"/>
          <c:tx>
            <c:v>Subject 23</c:v>
          </c:tx>
          <c:spPr>
            <a:ln xmlns:a="http://schemas.openxmlformats.org/drawingml/2006/main" w="14288">
              <a:solidFill>
                <a:srgbClr val="AABEC9"/>
              </a:solidFill>
            </a:ln>
          </c:spPr>
          <c:marker>
            <c:symbol val="none"/>
          </c:marker>
          <c:cat>
            <c:strRef>
              <c:f>'Chart Data'!$AE$2:$AE$4</c:f>
              <c:strCache>
                <c:ptCount val="3"/>
                <c:pt idx="0">
                  <c:v>Within</c:v>
                </c:pt>
                <c:pt idx="1">
                  <c:v>LOSO-matched</c:v>
                </c:pt>
                <c:pt idx="2">
                  <c:v>LOSO</c:v>
                </c:pt>
              </c:strCache>
            </c:strRef>
          </c:cat>
          <c:val>
            <c:numRef>
              <c:f>'Chart Data'!$AF$2:$AF$4</c:f>
              <c:numCache>
                <c:formatCode>0.0</c:formatCode>
                <c:ptCount val="3"/>
                <c:pt idx="0">
                  <c:v>0.88216105052</c:v>
                </c:pt>
                <c:pt idx="1">
                  <c:v>0.736908929969</c:v>
                </c:pt>
                <c:pt idx="2">
                  <c:v>0.789290680887</c:v>
                </c:pt>
              </c:numCache>
            </c:numRef>
          </c:val>
          <c:smooth val="0"/>
        </c:ser>
        <c:ser>
          <c:idx val="16"/>
          <c:order val="16"/>
          <c:tx>
            <c:v>Subject 24</c:v>
          </c:tx>
          <c:spPr>
            <a:ln xmlns:a="http://schemas.openxmlformats.org/drawingml/2006/main" w="14288">
              <a:solidFill>
                <a:srgbClr val="AABEC9"/>
              </a:solidFill>
            </a:ln>
          </c:spPr>
          <c:marker>
            <c:symbol val="none"/>
          </c:marker>
          <c:cat>
            <c:strRef>
              <c:f>'Chart Data'!$AG$2:$AG$4</c:f>
              <c:strCache>
                <c:ptCount val="3"/>
                <c:pt idx="0">
                  <c:v>Within</c:v>
                </c:pt>
                <c:pt idx="1">
                  <c:v>LOSO-matched</c:v>
                </c:pt>
                <c:pt idx="2">
                  <c:v>LOSO</c:v>
                </c:pt>
              </c:strCache>
            </c:strRef>
          </c:cat>
          <c:val>
            <c:numRef>
              <c:f>'Chart Data'!$AH$2:$AH$4</c:f>
              <c:numCache>
                <c:formatCode>0.0</c:formatCode>
                <c:ptCount val="3"/>
                <c:pt idx="0">
                  <c:v>0.814716472454</c:v>
                </c:pt>
                <c:pt idx="1">
                  <c:v>0.729100593094</c:v>
                </c:pt>
                <c:pt idx="2">
                  <c:v>0.808852623112</c:v>
                </c:pt>
              </c:numCache>
            </c:numRef>
          </c:val>
          <c:smooth val="0"/>
        </c:ser>
        <c:ser>
          <c:idx val="17"/>
          <c:order val="17"/>
          <c:tx>
            <c:v>Mean</c:v>
          </c:tx>
          <c:spPr>
            <a:ln xmlns:a="http://schemas.openxmlformats.org/drawingml/2006/main" w="47625">
              <a:solidFill>
                <a:srgbClr val="216A93"/>
              </a:solidFill>
            </a:ln>
          </c:spPr>
          <c:marker>
            <c:symbol val="none"/>
          </c:marker>
          <c:cat>
            <c:strRef>
              <c:f>'Chart Data'!$AI$2:$AI$4</c:f>
              <c:strCache>
                <c:ptCount val="3"/>
                <c:pt idx="0">
                  <c:v>Within</c:v>
                </c:pt>
                <c:pt idx="1">
                  <c:v>LOSO-matched</c:v>
                </c:pt>
                <c:pt idx="2">
                  <c:v>LOSO</c:v>
                </c:pt>
              </c:strCache>
            </c:strRef>
          </c:cat>
          <c:val>
            <c:numRef>
              <c:f>'Chart Data'!$AJ$2:$AJ$4</c:f>
              <c:numCache>
                <c:formatCode>0.0</c:formatCode>
                <c:ptCount val="3"/>
                <c:pt idx="0">
                  <c:v>0.874837199763</c:v>
                </c:pt>
                <c:pt idx="1">
                  <c:v>0.724307560667</c:v>
                </c:pt>
                <c:pt idx="2">
                  <c:v>0.809969963333</c:v>
                </c:pt>
              </c:numCache>
            </c:numRef>
          </c:val>
          <c:smooth val="0"/>
        </c:ser>
        <c:ser>
          <c:idx val="18"/>
          <c:order val="18"/>
          <c:tx>
            <c:v>Chance</c:v>
          </c:tx>
          <c:spPr>
            <a:ln xmlns:a="http://schemas.openxmlformats.org/drawingml/2006/main" w="19050">
              <a:solidFill>
                <a:srgbClr val="707070"/>
              </a:solidFill>
              <a:prstDash val="dash"/>
            </a:ln>
          </c:spPr>
          <c:marker>
            <c:symbol val="none"/>
          </c:marker>
          <c:cat>
            <c:strRef>
              <c:f>'Chart Data'!$AK$2:$AK$4</c:f>
              <c:strCache>
                <c:ptCount val="3"/>
                <c:pt idx="0">
                  <c:v>Within</c:v>
                </c:pt>
                <c:pt idx="1">
                  <c:v>LOSO-matched</c:v>
                </c:pt>
                <c:pt idx="2">
                  <c:v>LOSO</c:v>
                </c:pt>
              </c:strCache>
            </c:strRef>
          </c:cat>
          <c:val>
            <c:numRef>
              <c:f>'Chart Data'!$AL$2:$AL$4</c:f>
              <c:numCache>
                <c:formatCode>0.0</c:formatCode>
                <c:ptCount val="3"/>
                <c:pt idx="0">
                  <c:v>0.5</c:v>
                </c:pt>
                <c:pt idx="1">
                  <c:v>0.5</c:v>
                </c:pt>
                <c:pt idx="2">
                  <c:v>0.5</c:v>
                </c:pt>
              </c:numCache>
            </c:numRef>
          </c:val>
          <c:smooth val="0"/>
        </c:ser>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666666"/>
                </a:solidFill>
                <a:latin typeface="Arial"/>
                <a:ea typeface="Arial"/>
                <a:cs typeface="Arial"/>
              </a:defRPr>
            </a:pPr>
          </a:p>
        </c:txPr>
        <c:crossAx val="48672768"/>
      </c:catAx>
      <c:valAx>
        <c:axId val="48672768"/>
        <c:scaling>
          <c:orientation val="minMax"/>
          <c:max val="1"/>
          <c:min val="0.4"/>
        </c:scaling>
        <c:delete val="0"/>
        <c:axPos val="l"/>
        <c:majorGridlines>
          <c:spPr>
            <a:ln xmlns:a="http://schemas.openxmlformats.org/drawingml/2006/main" w="9525">
              <a:solidFill>
                <a:srgbClr val="E0E7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0.1"/>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F8C7E82-3B1D-45A1-9BA3-63FCC08FB1BB}"/>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182D42"/>
                </a:solidFill>
                <a:latin typeface="Arial"/>
                <a:ea typeface="Arial"/>
                <a:cs typeface="Arial"/>
              </a:defRPr>
            </a:defPPr>
            <a:lvl1pPr>
              <a:defRPr sz="4200" b="1">
                <a:solidFill>
                  <a:srgbClr val="182D42"/>
                </a:solidFill>
                <a:latin typeface="Arial"/>
                <a:ea typeface="Arial"/>
                <a:cs typeface="Arial"/>
              </a:defRPr>
            </a:lvl1pPr>
            <a:lvl2pPr>
              <a:defRPr sz="4200" b="1">
                <a:solidFill>
                  <a:srgbClr val="182D42"/>
                </a:solidFill>
                <a:latin typeface="Arial"/>
                <a:ea typeface="Arial"/>
                <a:cs typeface="Arial"/>
              </a:defRPr>
            </a:lvl2pPr>
            <a:lvl3pPr>
              <a:defRPr sz="4200" b="1">
                <a:solidFill>
                  <a:srgbClr val="182D42"/>
                </a:solidFill>
                <a:latin typeface="Arial"/>
                <a:ea typeface="Arial"/>
                <a:cs typeface="Arial"/>
              </a:defRPr>
            </a:lvl3pPr>
            <a:lvl4pPr>
              <a:defRPr sz="4200" b="1">
                <a:solidFill>
                  <a:srgbClr val="182D42"/>
                </a:solidFill>
                <a:latin typeface="Arial"/>
                <a:ea typeface="Arial"/>
                <a:cs typeface="Arial"/>
              </a:defRPr>
            </a:lvl4pPr>
            <a:lvl5pPr>
              <a:defRPr sz="4200" b="1">
                <a:solidFill>
                  <a:srgbClr val="182D42"/>
                </a:solidFill>
                <a:latin typeface="Arial"/>
                <a:ea typeface="Arial"/>
                <a:cs typeface="Arial"/>
              </a:defRPr>
            </a:lvl5pPr>
            <a:lvl6pPr>
              <a:defRPr sz="4200" b="1">
                <a:solidFill>
                  <a:srgbClr val="182D42"/>
                </a:solidFill>
                <a:latin typeface="Arial"/>
                <a:ea typeface="Arial"/>
                <a:cs typeface="Arial"/>
              </a:defRPr>
            </a:lvl6pPr>
            <a:lvl7pPr>
              <a:defRPr sz="4200" b="1">
                <a:solidFill>
                  <a:srgbClr val="182D42"/>
                </a:solidFill>
                <a:latin typeface="Arial"/>
                <a:ea typeface="Arial"/>
                <a:cs typeface="Arial"/>
              </a:defRPr>
            </a:lvl7pPr>
            <a:lvl8pPr>
              <a:defRPr sz="4200" b="1">
                <a:solidFill>
                  <a:srgbClr val="182D42"/>
                </a:solidFill>
                <a:latin typeface="Arial"/>
                <a:ea typeface="Arial"/>
                <a:cs typeface="Arial"/>
              </a:defRPr>
            </a:lvl8pPr>
            <a:lvl9pPr>
              <a:defRPr sz="4200"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4200" b="1">
                <a:solidFill>
                  <a:srgbClr val="182D42"/>
                </a:solidFill>
                <a:latin typeface="Arial"/>
                <a:ea typeface="Arial"/>
                <a:cs typeface="Arial"/>
              </a:rPr>
              <a:t>Calibration-free P300 decoding</a:t>
            </a:r>
          </a:p>
        </p:txBody>
      </p:sp>
      <p:sp>
        <p:nvSpPr>
          <p:cNvPr id="3" name="">
            <a:extLst xmlns:a="http://schemas.openxmlformats.org/drawingml/2006/main">
              <a:ext uri="{FF2B5EF4-FFF2-40B4-BE49-F238E27FC236}">
                <a16:creationId xmlns:a16="http://schemas.microsoft.com/office/drawing/2014/main" id="{88B6A8CC-82EB-40D6-BFFF-EC526BCA61A7}"/>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D35DFA06-DA23-45C3-A23F-FD03F0C5E293}"/>
              </a:ext>
            </a:extLst>
          </p:cNvPr>
          <p:cNvSpPr>
            <a:spLocks xmlns:a="http://schemas.openxmlformats.org/drawingml/2006/main" noGrp="1"/>
          </p:cNvSpPr>
          <p:nvPr/>
        </p:nvSpPr>
        <p:spPr>
          <a:xfrm xmlns:a="http://schemas.openxmlformats.org/drawingml/2006/main">
            <a:off x="571500" y="1905000"/>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216A93"/>
                </a:solidFill>
                <a:latin typeface="Arial"/>
                <a:ea typeface="Arial"/>
                <a:cs typeface="Arial"/>
              </a:defRPr>
            </a:defPPr>
            <a:lvl1pPr>
              <a:defRPr sz="3000" b="0">
                <a:solidFill>
                  <a:srgbClr val="216A93"/>
                </a:solidFill>
                <a:latin typeface="Arial"/>
                <a:ea typeface="Arial"/>
                <a:cs typeface="Arial"/>
              </a:defRPr>
            </a:lvl1pPr>
            <a:lvl2pPr>
              <a:defRPr sz="3000" b="0">
                <a:solidFill>
                  <a:srgbClr val="216A93"/>
                </a:solidFill>
                <a:latin typeface="Arial"/>
                <a:ea typeface="Arial"/>
                <a:cs typeface="Arial"/>
              </a:defRPr>
            </a:lvl2pPr>
            <a:lvl3pPr>
              <a:defRPr sz="3000" b="0">
                <a:solidFill>
                  <a:srgbClr val="216A93"/>
                </a:solidFill>
                <a:latin typeface="Arial"/>
                <a:ea typeface="Arial"/>
                <a:cs typeface="Arial"/>
              </a:defRPr>
            </a:lvl3pPr>
            <a:lvl4pPr>
              <a:defRPr sz="3000" b="0">
                <a:solidFill>
                  <a:srgbClr val="216A93"/>
                </a:solidFill>
                <a:latin typeface="Arial"/>
                <a:ea typeface="Arial"/>
                <a:cs typeface="Arial"/>
              </a:defRPr>
            </a:lvl4pPr>
            <a:lvl5pPr>
              <a:defRPr sz="3000" b="0">
                <a:solidFill>
                  <a:srgbClr val="216A93"/>
                </a:solidFill>
                <a:latin typeface="Arial"/>
                <a:ea typeface="Arial"/>
                <a:cs typeface="Arial"/>
              </a:defRPr>
            </a:lvl5pPr>
            <a:lvl6pPr>
              <a:defRPr sz="3000" b="0">
                <a:solidFill>
                  <a:srgbClr val="216A93"/>
                </a:solidFill>
                <a:latin typeface="Arial"/>
                <a:ea typeface="Arial"/>
                <a:cs typeface="Arial"/>
              </a:defRPr>
            </a:lvl6pPr>
            <a:lvl7pPr>
              <a:defRPr sz="3000" b="0">
                <a:solidFill>
                  <a:srgbClr val="216A93"/>
                </a:solidFill>
                <a:latin typeface="Arial"/>
                <a:ea typeface="Arial"/>
                <a:cs typeface="Arial"/>
              </a:defRPr>
            </a:lvl7pPr>
            <a:lvl8pPr>
              <a:defRPr sz="3000" b="0">
                <a:solidFill>
                  <a:srgbClr val="216A93"/>
                </a:solidFill>
                <a:latin typeface="Arial"/>
                <a:ea typeface="Arial"/>
                <a:cs typeface="Arial"/>
              </a:defRPr>
            </a:lvl8pPr>
            <a:lvl9pPr>
              <a:defRPr sz="3000" b="0">
                <a:solidFill>
                  <a:srgbClr val="216A93"/>
                </a:solidFill>
                <a:latin typeface="Arial"/>
                <a:ea typeface="Arial"/>
                <a:cs typeface="Arial"/>
              </a:defRPr>
            </a:lvl9pPr>
          </a:lstStyle>
          <a:p xmlns:a="http://schemas.openxmlformats.org/drawingml/2006/main">
            <a:pPr>
              <a:defRPr sz="3000" b="0">
                <a:solidFill>
                  <a:srgbClr val="216A93"/>
                </a:solidFill>
                <a:latin typeface="Arial"/>
                <a:ea typeface="Arial"/>
                <a:cs typeface="Arial"/>
              </a:defRPr>
            </a:pPr>
            <a:r>
              <a:rPr sz="3000" b="0">
                <a:solidFill>
                  <a:srgbClr val="216A93"/>
                </a:solidFill>
                <a:latin typeface="Arial"/>
                <a:ea typeface="Arial"/>
                <a:cs typeface="Arial"/>
              </a:rPr>
              <a:t>Cross-subject transfer on BrainInvaders2013a</a:t>
            </a:r>
          </a:p>
        </p:txBody>
      </p:sp>
      <p:sp>
        <p:nvSpPr>
          <p:cNvPr id="5" name="">
            <a:extLst xmlns:a="http://schemas.openxmlformats.org/drawingml/2006/main">
              <a:ext uri="{FF2B5EF4-FFF2-40B4-BE49-F238E27FC236}">
                <a16:creationId xmlns:a16="http://schemas.microsoft.com/office/drawing/2014/main" id="{A29AFCC9-C0B0-4245-A27B-D6FD6CCC4217}"/>
              </a:ext>
            </a:extLst>
          </p:cNvPr>
          <p:cNvSpPr>
            <a:spLocks xmlns:a="http://schemas.openxmlformats.org/drawingml/2006/main" noGrp="1"/>
          </p:cNvSpPr>
          <p:nvPr/>
        </p:nvSpPr>
        <p:spPr>
          <a:xfrm xmlns:a="http://schemas.openxmlformats.org/drawingml/2006/main">
            <a:off x="571500" y="3619500"/>
            <a:ext cx="1047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2D42"/>
                </a:solidFill>
                <a:latin typeface="Arial"/>
                <a:ea typeface="Arial"/>
                <a:cs typeface="Arial"/>
              </a:defRPr>
            </a:defPPr>
            <a:lvl1pPr>
              <a:defRPr sz="2100" b="0">
                <a:solidFill>
                  <a:srgbClr val="182D42"/>
                </a:solidFill>
                <a:latin typeface="Arial"/>
                <a:ea typeface="Arial"/>
                <a:cs typeface="Arial"/>
              </a:defRPr>
            </a:lvl1pPr>
            <a:lvl2pPr>
              <a:defRPr sz="2100" b="0">
                <a:solidFill>
                  <a:srgbClr val="182D42"/>
                </a:solidFill>
                <a:latin typeface="Arial"/>
                <a:ea typeface="Arial"/>
                <a:cs typeface="Arial"/>
              </a:defRPr>
            </a:lvl2pPr>
            <a:lvl3pPr>
              <a:defRPr sz="2100" b="0">
                <a:solidFill>
                  <a:srgbClr val="182D42"/>
                </a:solidFill>
                <a:latin typeface="Arial"/>
                <a:ea typeface="Arial"/>
                <a:cs typeface="Arial"/>
              </a:defRPr>
            </a:lvl3pPr>
            <a:lvl4pPr>
              <a:defRPr sz="2100" b="0">
                <a:solidFill>
                  <a:srgbClr val="182D42"/>
                </a:solidFill>
                <a:latin typeface="Arial"/>
                <a:ea typeface="Arial"/>
                <a:cs typeface="Arial"/>
              </a:defRPr>
            </a:lvl4pPr>
            <a:lvl5pPr>
              <a:defRPr sz="2100" b="0">
                <a:solidFill>
                  <a:srgbClr val="182D42"/>
                </a:solidFill>
                <a:latin typeface="Arial"/>
                <a:ea typeface="Arial"/>
                <a:cs typeface="Arial"/>
              </a:defRPr>
            </a:lvl5pPr>
            <a:lvl6pPr>
              <a:defRPr sz="2100" b="0">
                <a:solidFill>
                  <a:srgbClr val="182D42"/>
                </a:solidFill>
                <a:latin typeface="Arial"/>
                <a:ea typeface="Arial"/>
                <a:cs typeface="Arial"/>
              </a:defRPr>
            </a:lvl6pPr>
            <a:lvl7pPr>
              <a:defRPr sz="2100" b="0">
                <a:solidFill>
                  <a:srgbClr val="182D42"/>
                </a:solidFill>
                <a:latin typeface="Arial"/>
                <a:ea typeface="Arial"/>
                <a:cs typeface="Arial"/>
              </a:defRPr>
            </a:lvl7pPr>
            <a:lvl8pPr>
              <a:defRPr sz="2100" b="0">
                <a:solidFill>
                  <a:srgbClr val="182D42"/>
                </a:solidFill>
                <a:latin typeface="Arial"/>
                <a:ea typeface="Arial"/>
                <a:cs typeface="Arial"/>
              </a:defRPr>
            </a:lvl8pPr>
            <a:lvl9pPr>
              <a:defRPr sz="2100" b="0">
                <a:solidFill>
                  <a:srgbClr val="182D42"/>
                </a:solidFill>
                <a:latin typeface="Arial"/>
                <a:ea typeface="Arial"/>
                <a:cs typeface="Arial"/>
              </a:defRPr>
            </a:lvl9pPr>
          </a:lstStyle>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Birzhan Zhunusbekov     Arman Abakov</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Nazerke Khamzina          Bekmurat Amangeldiyev</a:t>
            </a:r>
          </a:p>
        </p:txBody>
      </p:sp>
      <p:sp>
        <p:nvSpPr>
          <p:cNvPr id="6" name="">
            <a:extLst xmlns:a="http://schemas.openxmlformats.org/drawingml/2006/main">
              <a:ext uri="{FF2B5EF4-FFF2-40B4-BE49-F238E27FC236}">
                <a16:creationId xmlns:a16="http://schemas.microsoft.com/office/drawing/2014/main" id="{072AF92A-F2B4-4CFF-9BD3-A64BB71EAAE5}"/>
              </a:ext>
            </a:extLst>
          </p:cNvPr>
          <p:cNvSpPr>
            <a:spLocks xmlns:a="http://schemas.openxmlformats.org/drawingml/2006/main" noGrp="1"/>
          </p:cNvSpPr>
          <p:nvPr/>
        </p:nvSpPr>
        <p:spPr>
          <a:xfrm xmlns:a="http://schemas.openxmlformats.org/drawingml/2006/main">
            <a:off x="571500" y="54768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06477"/>
                </a:solidFill>
                <a:latin typeface="Arial"/>
                <a:ea typeface="Arial"/>
                <a:cs typeface="Arial"/>
              </a:defRPr>
            </a:defPPr>
            <a:lvl1pPr>
              <a:defRPr sz="1875" b="0">
                <a:solidFill>
                  <a:srgbClr val="506477"/>
                </a:solidFill>
                <a:latin typeface="Arial"/>
                <a:ea typeface="Arial"/>
                <a:cs typeface="Arial"/>
              </a:defRPr>
            </a:lvl1pPr>
            <a:lvl2pPr>
              <a:defRPr sz="1875" b="0">
                <a:solidFill>
                  <a:srgbClr val="506477"/>
                </a:solidFill>
                <a:latin typeface="Arial"/>
                <a:ea typeface="Arial"/>
                <a:cs typeface="Arial"/>
              </a:defRPr>
            </a:lvl2pPr>
            <a:lvl3pPr>
              <a:defRPr sz="1875" b="0">
                <a:solidFill>
                  <a:srgbClr val="506477"/>
                </a:solidFill>
                <a:latin typeface="Arial"/>
                <a:ea typeface="Arial"/>
                <a:cs typeface="Arial"/>
              </a:defRPr>
            </a:lvl3pPr>
            <a:lvl4pPr>
              <a:defRPr sz="1875" b="0">
                <a:solidFill>
                  <a:srgbClr val="506477"/>
                </a:solidFill>
                <a:latin typeface="Arial"/>
                <a:ea typeface="Arial"/>
                <a:cs typeface="Arial"/>
              </a:defRPr>
            </a:lvl4pPr>
            <a:lvl5pPr>
              <a:defRPr sz="1875" b="0">
                <a:solidFill>
                  <a:srgbClr val="506477"/>
                </a:solidFill>
                <a:latin typeface="Arial"/>
                <a:ea typeface="Arial"/>
                <a:cs typeface="Arial"/>
              </a:defRPr>
            </a:lvl5pPr>
            <a:lvl6pPr>
              <a:defRPr sz="1875" b="0">
                <a:solidFill>
                  <a:srgbClr val="506477"/>
                </a:solidFill>
                <a:latin typeface="Arial"/>
                <a:ea typeface="Arial"/>
                <a:cs typeface="Arial"/>
              </a:defRPr>
            </a:lvl6pPr>
            <a:lvl7pPr>
              <a:defRPr sz="1875" b="0">
                <a:solidFill>
                  <a:srgbClr val="506477"/>
                </a:solidFill>
                <a:latin typeface="Arial"/>
                <a:ea typeface="Arial"/>
                <a:cs typeface="Arial"/>
              </a:defRPr>
            </a:lvl7pPr>
            <a:lvl8pPr>
              <a:defRPr sz="1875" b="0">
                <a:solidFill>
                  <a:srgbClr val="506477"/>
                </a:solidFill>
                <a:latin typeface="Arial"/>
                <a:ea typeface="Arial"/>
                <a:cs typeface="Arial"/>
              </a:defRPr>
            </a:lvl8pPr>
            <a:lvl9pPr>
              <a:defRPr sz="1875" b="0">
                <a:solidFill>
                  <a:srgbClr val="506477"/>
                </a:solidFill>
                <a:latin typeface="Arial"/>
                <a:ea typeface="Arial"/>
                <a:cs typeface="Arial"/>
              </a:defRPr>
            </a:lvl9pPr>
          </a:lstStyle>
          <a:p xmlns:a="http://schemas.openxmlformats.org/drawingml/2006/main">
            <a:pPr>
              <a:defRPr sz="1875" b="0">
                <a:solidFill>
                  <a:srgbClr val="506477"/>
                </a:solidFill>
                <a:latin typeface="Arial"/>
                <a:ea typeface="Arial"/>
                <a:cs typeface="Arial"/>
              </a:defRPr>
            </a:pPr>
            <a:r>
              <a:rPr sz="1875" b="0">
                <a:solidFill>
                  <a:srgbClr val="506477"/>
                </a:solidFill>
                <a:latin typeface="Arial"/>
                <a:ea typeface="Arial"/>
                <a:cs typeface="Arial"/>
              </a:rPr>
              <a:t>17 subjects    Linear ERP decoder    Offline evaluation</a:t>
            </a:r>
          </a:p>
        </p:txBody>
      </p:sp>
    </p:spTree>
    <p:extLst>
      <p:ext uri="{BB962C8B-B14F-4D97-AF65-F5344CB8AC3E}">
        <p14:creationId xmlns:p14="http://schemas.microsoft.com/office/powerpoint/2010/main" val="15244854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1EE0300-5E7E-4830-A134-879435FF0B0A}"/>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Research question and hypotheses</a:t>
            </a:r>
          </a:p>
        </p:txBody>
      </p:sp>
      <p:sp>
        <p:nvSpPr>
          <p:cNvPr id="3" name="">
            <a:extLst xmlns:a="http://schemas.openxmlformats.org/drawingml/2006/main">
              <a:ext uri="{FF2B5EF4-FFF2-40B4-BE49-F238E27FC236}">
                <a16:creationId xmlns:a16="http://schemas.microsoft.com/office/drawing/2014/main" id="{7A21EBF4-71CA-4519-BD3D-0288D3CCD538}"/>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FC784719-E396-4CB4-B8D9-FB5AA79C7DD1}"/>
              </a:ext>
            </a:extLst>
          </p:cNvPr>
          <p:cNvSpPr>
            <a:spLocks xmlns:a="http://schemas.openxmlformats.org/drawingml/2006/main" noGrp="1"/>
          </p:cNvSpPr>
          <p:nvPr/>
        </p:nvSpPr>
        <p:spPr>
          <a:xfrm xmlns:a="http://schemas.openxmlformats.org/drawingml/2006/main">
            <a:off x="571500" y="147637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216A93"/>
                </a:solidFill>
                <a:latin typeface="Arial"/>
                <a:ea typeface="Arial"/>
                <a:cs typeface="Arial"/>
              </a:defRPr>
            </a:defPPr>
            <a:lvl1pPr>
              <a:defRPr sz="2775" b="1">
                <a:solidFill>
                  <a:srgbClr val="216A93"/>
                </a:solidFill>
                <a:latin typeface="Arial"/>
                <a:ea typeface="Arial"/>
                <a:cs typeface="Arial"/>
              </a:defRPr>
            </a:lvl1pPr>
            <a:lvl2pPr>
              <a:defRPr sz="2775" b="1">
                <a:solidFill>
                  <a:srgbClr val="216A93"/>
                </a:solidFill>
                <a:latin typeface="Arial"/>
                <a:ea typeface="Arial"/>
                <a:cs typeface="Arial"/>
              </a:defRPr>
            </a:lvl2pPr>
            <a:lvl3pPr>
              <a:defRPr sz="2775" b="1">
                <a:solidFill>
                  <a:srgbClr val="216A93"/>
                </a:solidFill>
                <a:latin typeface="Arial"/>
                <a:ea typeface="Arial"/>
                <a:cs typeface="Arial"/>
              </a:defRPr>
            </a:lvl3pPr>
            <a:lvl4pPr>
              <a:defRPr sz="2775" b="1">
                <a:solidFill>
                  <a:srgbClr val="216A93"/>
                </a:solidFill>
                <a:latin typeface="Arial"/>
                <a:ea typeface="Arial"/>
                <a:cs typeface="Arial"/>
              </a:defRPr>
            </a:lvl4pPr>
            <a:lvl5pPr>
              <a:defRPr sz="2775" b="1">
                <a:solidFill>
                  <a:srgbClr val="216A93"/>
                </a:solidFill>
                <a:latin typeface="Arial"/>
                <a:ea typeface="Arial"/>
                <a:cs typeface="Arial"/>
              </a:defRPr>
            </a:lvl5pPr>
            <a:lvl6pPr>
              <a:defRPr sz="2775" b="1">
                <a:solidFill>
                  <a:srgbClr val="216A93"/>
                </a:solidFill>
                <a:latin typeface="Arial"/>
                <a:ea typeface="Arial"/>
                <a:cs typeface="Arial"/>
              </a:defRPr>
            </a:lvl6pPr>
            <a:lvl7pPr>
              <a:defRPr sz="2775" b="1">
                <a:solidFill>
                  <a:srgbClr val="216A93"/>
                </a:solidFill>
                <a:latin typeface="Arial"/>
                <a:ea typeface="Arial"/>
                <a:cs typeface="Arial"/>
              </a:defRPr>
            </a:lvl7pPr>
            <a:lvl8pPr>
              <a:defRPr sz="2775" b="1">
                <a:solidFill>
                  <a:srgbClr val="216A93"/>
                </a:solidFill>
                <a:latin typeface="Arial"/>
                <a:ea typeface="Arial"/>
                <a:cs typeface="Arial"/>
              </a:defRPr>
            </a:lvl8pPr>
            <a:lvl9pPr>
              <a:defRPr sz="2775" b="1">
                <a:solidFill>
                  <a:srgbClr val="216A93"/>
                </a:solidFill>
                <a:latin typeface="Arial"/>
                <a:ea typeface="Arial"/>
                <a:cs typeface="Arial"/>
              </a:defRPr>
            </a:lvl9pPr>
          </a:lstStyle>
          <a:p xmlns:a="http://schemas.openxmlformats.org/drawingml/2006/main">
            <a:pPr>
              <a:defRPr sz="2775" b="1">
                <a:solidFill>
                  <a:srgbClr val="216A93"/>
                </a:solidFill>
                <a:latin typeface="Arial"/>
                <a:ea typeface="Arial"/>
                <a:cs typeface="Arial"/>
              </a:defRPr>
            </a:pPr>
            <a:r>
              <a:rPr sz="2775" b="1">
                <a:solidFill>
                  <a:srgbClr val="216A93"/>
                </a:solidFill>
                <a:latin typeface="Arial"/>
                <a:ea typeface="Arial"/>
                <a:cs typeface="Arial"/>
              </a:rPr>
              <a:t>Can other users’ data replace a new user’s calibration?</a:t>
            </a:r>
          </a:p>
        </p:txBody>
      </p:sp>
      <p:sp>
        <p:nvSpPr>
          <p:cNvPr id="5" name="">
            <a:extLst xmlns:a="http://schemas.openxmlformats.org/drawingml/2006/main">
              <a:ext uri="{FF2B5EF4-FFF2-40B4-BE49-F238E27FC236}">
                <a16:creationId xmlns:a16="http://schemas.microsoft.com/office/drawing/2014/main" id="{88A97889-7F9A-4ABB-87BB-59B883679C1C}"/>
              </a:ext>
            </a:extLst>
          </p:cNvPr>
          <p:cNvSpPr>
            <a:spLocks xmlns:a="http://schemas.openxmlformats.org/drawingml/2006/main" noGrp="1"/>
          </p:cNvSpPr>
          <p:nvPr/>
        </p:nvSpPr>
        <p:spPr>
          <a:xfrm xmlns:a="http://schemas.openxmlformats.org/drawingml/2006/main">
            <a:off x="571500" y="2762250"/>
            <a:ext cx="108585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D42"/>
                </a:solidFill>
                <a:latin typeface="Arial"/>
                <a:ea typeface="Arial"/>
                <a:cs typeface="Arial"/>
              </a:defRPr>
            </a:defPPr>
            <a:lvl1pPr>
              <a:defRPr sz="2250" b="0">
                <a:solidFill>
                  <a:srgbClr val="182D42"/>
                </a:solidFill>
                <a:latin typeface="Arial"/>
                <a:ea typeface="Arial"/>
                <a:cs typeface="Arial"/>
              </a:defRPr>
            </a:lvl1pPr>
            <a:lvl2pPr>
              <a:defRPr sz="2250" b="0">
                <a:solidFill>
                  <a:srgbClr val="182D42"/>
                </a:solidFill>
                <a:latin typeface="Arial"/>
                <a:ea typeface="Arial"/>
                <a:cs typeface="Arial"/>
              </a:defRPr>
            </a:lvl2pPr>
            <a:lvl3pPr>
              <a:defRPr sz="2250" b="0">
                <a:solidFill>
                  <a:srgbClr val="182D42"/>
                </a:solidFill>
                <a:latin typeface="Arial"/>
                <a:ea typeface="Arial"/>
                <a:cs typeface="Arial"/>
              </a:defRPr>
            </a:lvl3pPr>
            <a:lvl4pPr>
              <a:defRPr sz="2250" b="0">
                <a:solidFill>
                  <a:srgbClr val="182D42"/>
                </a:solidFill>
                <a:latin typeface="Arial"/>
                <a:ea typeface="Arial"/>
                <a:cs typeface="Arial"/>
              </a:defRPr>
            </a:lvl4pPr>
            <a:lvl5pPr>
              <a:defRPr sz="2250" b="0">
                <a:solidFill>
                  <a:srgbClr val="182D42"/>
                </a:solidFill>
                <a:latin typeface="Arial"/>
                <a:ea typeface="Arial"/>
                <a:cs typeface="Arial"/>
              </a:defRPr>
            </a:lvl5pPr>
            <a:lvl6pPr>
              <a:defRPr sz="2250" b="0">
                <a:solidFill>
                  <a:srgbClr val="182D42"/>
                </a:solidFill>
                <a:latin typeface="Arial"/>
                <a:ea typeface="Arial"/>
                <a:cs typeface="Arial"/>
              </a:defRPr>
            </a:lvl6pPr>
            <a:lvl7pPr>
              <a:defRPr sz="2250" b="0">
                <a:solidFill>
                  <a:srgbClr val="182D42"/>
                </a:solidFill>
                <a:latin typeface="Arial"/>
                <a:ea typeface="Arial"/>
                <a:cs typeface="Arial"/>
              </a:defRPr>
            </a:lvl7pPr>
            <a:lvl8pPr>
              <a:defRPr sz="2250" b="0">
                <a:solidFill>
                  <a:srgbClr val="182D42"/>
                </a:solidFill>
                <a:latin typeface="Arial"/>
                <a:ea typeface="Arial"/>
                <a:cs typeface="Arial"/>
              </a:defRPr>
            </a:lvl8pPr>
            <a:lvl9pPr>
              <a:defRPr sz="2250" b="0">
                <a:solidFill>
                  <a:srgbClr val="182D42"/>
                </a:solidFill>
                <a:latin typeface="Arial"/>
                <a:ea typeface="Arial"/>
                <a:cs typeface="Arial"/>
              </a:defRPr>
            </a:lvl9pPr>
          </a:lstStyle>
          <a:p xmlns:a="http://schemas.openxmlformats.org/drawingml/2006/main">
            <a:pPr>
              <a:defRPr sz="2250" b="0">
                <a:solidFill>
                  <a:srgbClr val="182D42"/>
                </a:solidFill>
                <a:latin typeface="Arial"/>
                <a:ea typeface="Arial"/>
                <a:cs typeface="Arial"/>
              </a:defRPr>
            </a:pPr>
            <a:r>
              <a:rPr sz="2250" b="0">
                <a:solidFill>
                  <a:srgbClr val="182D42"/>
                </a:solidFill>
                <a:latin typeface="Arial"/>
                <a:ea typeface="Arial"/>
                <a:cs typeface="Arial"/>
              </a:rPr>
              <a:t>H1   LOSO ranks targets above chance</a:t>
            </a:r>
          </a:p>
          <a:p xmlns:a="http://schemas.openxmlformats.org/drawingml/2006/main">
            <a:r>
              <a:t/>
            </a:r>
          </a:p>
          <a:p xmlns:a="http://schemas.openxmlformats.org/drawingml/2006/main">
            <a:pPr>
              <a:defRPr sz="2250" b="0">
                <a:solidFill>
                  <a:srgbClr val="182D42"/>
                </a:solidFill>
                <a:latin typeface="Arial"/>
                <a:ea typeface="Arial"/>
                <a:cs typeface="Arial"/>
              </a:defRPr>
            </a:pPr>
            <a:r>
              <a:rPr sz="2250" b="0">
                <a:solidFill>
                  <a:srgbClr val="182D42"/>
                </a:solidFill>
                <a:latin typeface="Arial"/>
                <a:ea typeface="Arial"/>
                <a:cs typeface="Arial"/>
              </a:rPr>
              <a:t>H2   Within-subject training exceeds LOSO</a:t>
            </a:r>
          </a:p>
          <a:p xmlns:a="http://schemas.openxmlformats.org/drawingml/2006/main">
            <a:r>
              <a:t/>
            </a:r>
          </a:p>
          <a:p xmlns:a="http://schemas.openxmlformats.org/drawingml/2006/main">
            <a:pPr>
              <a:defRPr sz="2250" b="0">
                <a:solidFill>
                  <a:srgbClr val="182D42"/>
                </a:solidFill>
                <a:latin typeface="Arial"/>
                <a:ea typeface="Arial"/>
                <a:cs typeface="Arial"/>
              </a:defRPr>
            </a:pPr>
            <a:r>
              <a:rPr sz="2250" b="0">
                <a:solidFill>
                  <a:srgbClr val="182D42"/>
                </a:solidFill>
                <a:latin typeface="Arial"/>
                <a:ea typeface="Arial"/>
                <a:cs typeface="Arial"/>
              </a:rPr>
              <a:t>H3   The gap remains with matched training counts</a:t>
            </a:r>
          </a:p>
        </p:txBody>
      </p:sp>
      <p:sp>
        <p:nvSpPr>
          <p:cNvPr id="6" name="">
            <a:extLst xmlns:a="http://schemas.openxmlformats.org/drawingml/2006/main">
              <a:ext uri="{FF2B5EF4-FFF2-40B4-BE49-F238E27FC236}">
                <a16:creationId xmlns:a16="http://schemas.microsoft.com/office/drawing/2014/main" id="{023E330A-0465-4AA8-88BF-23CB2F648BEF}"/>
              </a:ext>
            </a:extLst>
          </p:cNvPr>
          <p:cNvSpPr>
            <a:spLocks xmlns:a="http://schemas.openxmlformats.org/drawingml/2006/main" noGrp="1"/>
          </p:cNvSpPr>
          <p:nvPr/>
        </p:nvSpPr>
        <p:spPr>
          <a:xfrm xmlns:a="http://schemas.openxmlformats.org/drawingml/2006/main">
            <a:off x="571500" y="581025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06477"/>
                </a:solidFill>
                <a:latin typeface="Arial"/>
                <a:ea typeface="Arial"/>
                <a:cs typeface="Arial"/>
              </a:defRPr>
            </a:defPPr>
            <a:lvl1pPr>
              <a:defRPr sz="1725" b="0">
                <a:solidFill>
                  <a:srgbClr val="506477"/>
                </a:solidFill>
                <a:latin typeface="Arial"/>
                <a:ea typeface="Arial"/>
                <a:cs typeface="Arial"/>
              </a:defRPr>
            </a:lvl1pPr>
            <a:lvl2pPr>
              <a:defRPr sz="1725" b="0">
                <a:solidFill>
                  <a:srgbClr val="506477"/>
                </a:solidFill>
                <a:latin typeface="Arial"/>
                <a:ea typeface="Arial"/>
                <a:cs typeface="Arial"/>
              </a:defRPr>
            </a:lvl2pPr>
            <a:lvl3pPr>
              <a:defRPr sz="1725" b="0">
                <a:solidFill>
                  <a:srgbClr val="506477"/>
                </a:solidFill>
                <a:latin typeface="Arial"/>
                <a:ea typeface="Arial"/>
                <a:cs typeface="Arial"/>
              </a:defRPr>
            </a:lvl3pPr>
            <a:lvl4pPr>
              <a:defRPr sz="1725" b="0">
                <a:solidFill>
                  <a:srgbClr val="506477"/>
                </a:solidFill>
                <a:latin typeface="Arial"/>
                <a:ea typeface="Arial"/>
                <a:cs typeface="Arial"/>
              </a:defRPr>
            </a:lvl4pPr>
            <a:lvl5pPr>
              <a:defRPr sz="1725" b="0">
                <a:solidFill>
                  <a:srgbClr val="506477"/>
                </a:solidFill>
                <a:latin typeface="Arial"/>
                <a:ea typeface="Arial"/>
                <a:cs typeface="Arial"/>
              </a:defRPr>
            </a:lvl5pPr>
            <a:lvl6pPr>
              <a:defRPr sz="1725" b="0">
                <a:solidFill>
                  <a:srgbClr val="506477"/>
                </a:solidFill>
                <a:latin typeface="Arial"/>
                <a:ea typeface="Arial"/>
                <a:cs typeface="Arial"/>
              </a:defRPr>
            </a:lvl6pPr>
            <a:lvl7pPr>
              <a:defRPr sz="1725" b="0">
                <a:solidFill>
                  <a:srgbClr val="506477"/>
                </a:solidFill>
                <a:latin typeface="Arial"/>
                <a:ea typeface="Arial"/>
                <a:cs typeface="Arial"/>
              </a:defRPr>
            </a:lvl7pPr>
            <a:lvl8pPr>
              <a:defRPr sz="1725" b="0">
                <a:solidFill>
                  <a:srgbClr val="506477"/>
                </a:solidFill>
                <a:latin typeface="Arial"/>
                <a:ea typeface="Arial"/>
                <a:cs typeface="Arial"/>
              </a:defRPr>
            </a:lvl8pPr>
            <a:lvl9pPr>
              <a:defRPr sz="1725" b="0">
                <a:solidFill>
                  <a:srgbClr val="506477"/>
                </a:solidFill>
                <a:latin typeface="Arial"/>
                <a:ea typeface="Arial"/>
                <a:cs typeface="Arial"/>
              </a:defRPr>
            </a:lvl9pPr>
          </a:lstStyle>
          <a:p xmlns:a="http://schemas.openxmlformats.org/drawingml/2006/main">
            <a:pPr>
              <a:defRPr sz="1725" b="0">
                <a:solidFill>
                  <a:srgbClr val="506477"/>
                </a:solidFill>
                <a:latin typeface="Arial"/>
                <a:ea typeface="Arial"/>
                <a:cs typeface="Arial"/>
              </a:defRPr>
            </a:pPr>
            <a:r>
              <a:rPr sz="1725" b="0">
                <a:solidFill>
                  <a:srgbClr val="506477"/>
                </a:solidFill>
                <a:latin typeface="Arial"/>
                <a:ea typeface="Arial"/>
                <a:cs typeface="Arial"/>
              </a:rPr>
              <a:t>Earlier subjects 8–10 informed development. We disclose that boundary.</a:t>
            </a:r>
          </a:p>
        </p:txBody>
      </p:sp>
    </p:spTree>
    <p:extLst>
      <p:ext uri="{BB962C8B-B14F-4D97-AF65-F5344CB8AC3E}">
        <p14:creationId xmlns:p14="http://schemas.microsoft.com/office/powerpoint/2010/main" val="64983933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BCE593B-7F90-45C6-AE1F-88FEEC652230}"/>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Data and provenance</a:t>
            </a:r>
          </a:p>
        </p:txBody>
      </p:sp>
      <p:sp>
        <p:nvSpPr>
          <p:cNvPr id="3" name="">
            <a:extLst xmlns:a="http://schemas.openxmlformats.org/drawingml/2006/main">
              <a:ext uri="{FF2B5EF4-FFF2-40B4-BE49-F238E27FC236}">
                <a16:creationId xmlns:a16="http://schemas.microsoft.com/office/drawing/2014/main" id="{2F4E805D-12DD-43C1-919C-FE4B4E554A9D}"/>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3</a:t>
            </a:r>
          </a:p>
        </p:txBody>
      </p:sp>
      <p:graphicFrame>
        <p:nvGraphicFramePr>
          <p:cNvPr id="4" name="">
            <a:extLst xmlns:a="http://schemas.openxmlformats.org/drawingml/2006/main">
              <a:ext uri="{FF2B5EF4-FFF2-40B4-BE49-F238E27FC236}">
                <a16:creationId xmlns:a16="http://schemas.microsoft.com/office/drawing/2014/main" id="{20B7FD60-8A66-4651-8E66-60D5CA3CC1AC}"/>
              </a:ext>
            </a:extLst>
          </p:cNvPr>
          <p:cNvGraphicFramePr/>
          <p:nvPr/>
        </p:nvGraphicFramePr>
        <p:xfrm>
          <a:off xmlns:a="http://schemas.openxmlformats.org/drawingml/2006/main" x="571500" y="1476375"/>
          <a:ext xmlns:a="http://schemas.openxmlformats.org/drawingml/2006/main" cx="6191250" cy="3857625"/>
        </p:xfrm>
        <a:graphic xmlns:a="http://schemas.openxmlformats.org/drawingml/2006/main">
          <a:graphicData uri="http://schemas.openxmlformats.org/drawingml/2006/table">
            <a:tbl>
              <a:tblPr/>
              <a:tblGrid>
                <a:gridCol w="2381250"/>
                <a:gridCol w="3810000"/>
              </a:tblGrid>
              <a:tr h="642938">
                <a:tc>
                  <a:txBody>
                    <a:bodyPr/>
                    <a:lstStyle/>
                    <a:p>
                      <a:r>
                        <a:rPr sz="1875" b="1">
                          <a:solidFill>
                            <a:srgbClr val="FFFFFF"/>
                          </a:solidFill>
                          <a:latin typeface="Arial"/>
                          <a:ea typeface="Arial"/>
                          <a:cs typeface="Arial"/>
                        </a:rPr>
                        <a:t>Property</a:t>
                      </a:r>
                    </a:p>
                  </a:txBody>
                  <a:tcPr marL="91440" marR="91440" marT="45720" marB="45720">
                    <a:lnL w="9525">
                      <a:solidFill>
                        <a:srgbClr val="D6E0E7"/>
                      </a:solidFill>
                      <a:prstDash val="solid"/>
                    </a:lnL>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Audited value</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r>
              <a:tr h="642938">
                <a:tc>
                  <a:txBody>
                    <a:bodyPr/>
                    <a:lstStyle/>
                    <a:p>
                      <a:r>
                        <a:rPr sz="1875" b="0">
                          <a:solidFill>
                            <a:srgbClr val="182D42"/>
                          </a:solidFill>
                          <a:latin typeface="Arial"/>
                          <a:ea typeface="Arial"/>
                          <a:cs typeface="Arial"/>
                        </a:rPr>
                        <a:t>Subjects</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8–24, n = 17</a:t>
                      </a:r>
                    </a:p>
                  </a:txBody>
                  <a:tcPr marL="91440" marR="91440" marT="45720" marB="45720">
                    <a:lnR w="9525">
                      <a:solidFill>
                        <a:srgbClr val="D6E0E7"/>
                      </a:solidFill>
                      <a:prstDash val="solid"/>
                    </a:lnR>
                    <a:lnB w="9525">
                      <a:solidFill>
                        <a:srgbClr val="D6E0E7"/>
                      </a:solidFill>
                      <a:prstDash val="solid"/>
                    </a:lnB>
                    <a:solidFill>
                      <a:srgbClr val="FFFFFF"/>
                    </a:solidFill>
                  </a:tcPr>
                </a:tc>
              </a:tr>
              <a:tr h="642938">
                <a:tc>
                  <a:txBody>
                    <a:bodyPr/>
                    <a:lstStyle/>
                    <a:p>
                      <a:r>
                        <a:rPr sz="1875" b="0">
                          <a:solidFill>
                            <a:srgbClr val="182D42"/>
                          </a:solidFill>
                          <a:latin typeface="Arial"/>
                          <a:ea typeface="Arial"/>
                          <a:cs typeface="Arial"/>
                        </a:rPr>
                        <a:t>Runs</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2 training runs per subject</a:t>
                      </a:r>
                    </a:p>
                  </a:txBody>
                  <a:tcPr marL="91440" marR="91440" marT="45720" marB="45720">
                    <a:lnR w="9525">
                      <a:solidFill>
                        <a:srgbClr val="D6E0E7"/>
                      </a:solidFill>
                      <a:prstDash val="solid"/>
                    </a:lnR>
                    <a:lnB w="9525">
                      <a:solidFill>
                        <a:srgbClr val="D6E0E7"/>
                      </a:solidFill>
                      <a:prstDash val="solid"/>
                    </a:lnB>
                    <a:solidFill>
                      <a:srgbClr val="FFFFFF"/>
                    </a:solidFill>
                  </a:tcPr>
                </a:tc>
              </a:tr>
              <a:tr h="642938">
                <a:tc>
                  <a:txBody>
                    <a:bodyPr/>
                    <a:lstStyle/>
                    <a:p>
                      <a:r>
                        <a:rPr sz="1875" b="0">
                          <a:solidFill>
                            <a:srgbClr val="182D42"/>
                          </a:solidFill>
                          <a:latin typeface="Arial"/>
                          <a:ea typeface="Arial"/>
                          <a:cs typeface="Arial"/>
                        </a:rPr>
                        <a:t>Acquisition</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16 EEG channels, 512 Hz</a:t>
                      </a:r>
                    </a:p>
                  </a:txBody>
                  <a:tcPr marL="91440" marR="91440" marT="45720" marB="45720">
                    <a:lnR w="9525">
                      <a:solidFill>
                        <a:srgbClr val="D6E0E7"/>
                      </a:solidFill>
                      <a:prstDash val="solid"/>
                    </a:lnR>
                    <a:lnB w="9525">
                      <a:solidFill>
                        <a:srgbClr val="D6E0E7"/>
                      </a:solidFill>
                      <a:prstDash val="solid"/>
                    </a:lnB>
                    <a:solidFill>
                      <a:srgbClr val="FFFFFF"/>
                    </a:solidFill>
                  </a:tcPr>
                </a:tc>
              </a:tr>
              <a:tr h="642938">
                <a:tc>
                  <a:txBody>
                    <a:bodyPr/>
                    <a:lstStyle/>
                    <a:p>
                      <a:r>
                        <a:rPr sz="1875" b="0">
                          <a:solidFill>
                            <a:srgbClr val="182D42"/>
                          </a:solidFill>
                          <a:latin typeface="Arial"/>
                          <a:ea typeface="Arial"/>
                          <a:cs typeface="Arial"/>
                        </a:rPr>
                        <a:t>Reference</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Left earlobe</a:t>
                      </a:r>
                    </a:p>
                  </a:txBody>
                  <a:tcPr marL="91440" marR="91440" marT="45720" marB="45720">
                    <a:lnR w="9525">
                      <a:solidFill>
                        <a:srgbClr val="D6E0E7"/>
                      </a:solidFill>
                      <a:prstDash val="solid"/>
                    </a:lnR>
                    <a:lnB w="9525">
                      <a:solidFill>
                        <a:srgbClr val="D6E0E7"/>
                      </a:solidFill>
                      <a:prstDash val="solid"/>
                    </a:lnB>
                    <a:solidFill>
                      <a:srgbClr val="FFFFFF"/>
                    </a:solidFill>
                  </a:tcPr>
                </a:tc>
              </a:tr>
              <a:tr h="642938">
                <a:tc>
                  <a:txBody>
                    <a:bodyPr/>
                    <a:lstStyle/>
                    <a:p>
                      <a:r>
                        <a:rPr sz="1875" b="0">
                          <a:solidFill>
                            <a:srgbClr val="182D42"/>
                          </a:solidFill>
                          <a:latin typeface="Arial"/>
                          <a:ea typeface="Arial"/>
                          <a:cs typeface="Arial"/>
                        </a:rPr>
                        <a:t>Events</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80 targets / 400 non-targets per run</a:t>
                      </a:r>
                    </a:p>
                  </a:txBody>
                  <a:tcPr marL="91440" marR="91440" marT="45720" marB="45720">
                    <a:lnR w="9525">
                      <a:solidFill>
                        <a:srgbClr val="D6E0E7"/>
                      </a:solidFill>
                      <a:prstDash val="solid"/>
                    </a:lnR>
                    <a:lnB w="9525">
                      <a:solidFill>
                        <a:srgbClr val="D6E0E7"/>
                      </a:solidFill>
                      <a:prstDash val="solid"/>
                    </a:lnB>
                    <a:solidFill>
                      <a:srgbClr val="FFFFFF"/>
                    </a:solidFill>
                  </a:tcPr>
                </a:tc>
              </a:tr>
            </a:tbl>
          </a:graphicData>
        </a:graphic>
      </p:graphicFrame>
      <p:pic>
        <p:nvPicPr>
          <p:cNvPr id="5" name="">
            <a:extLst xmlns:a="http://schemas.openxmlformats.org/drawingml/2006/main">
              <a:ext uri="{FF2B5EF4-FFF2-40B4-BE49-F238E27FC236}">
                <a16:creationId xmlns:a16="http://schemas.microsoft.com/office/drawing/2014/main" id="{DA4FD04D-F373-4F89-9FEC-12215F233395}"/>
              </a:ext>
            </a:extLst>
          </p:cNvPr>
          <p:cNvPicPr>
            <a:picLocks xmlns:a="http://schemas.openxmlformats.org/drawingml/2006/main" noChangeAspect="1"/>
          </p:cNvPicPr>
          <p:nvPr/>
        </p:nvPicPr>
        <p:blipFill>
          <a:blip xmlns:r="http://schemas.openxmlformats.org/officeDocument/2006/relationships" xmlns:a="http://schemas.openxmlformats.org/drawingml/2006/main" r:embed="R1f8ab05bfd2e4aeb"/>
          <a:stretch xmlns:a="http://schemas.openxmlformats.org/drawingml/2006/main"/>
        </p:blipFill>
        <p:spPr>
          <a:xfrm xmlns:a="http://schemas.openxmlformats.org/drawingml/2006/main">
            <a:off x="7325772" y="1476375"/>
            <a:ext cx="3922206" cy="3857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F9E75CF-3213-4B9B-AC41-E0527F1B0E56}"/>
              </a:ext>
            </a:extLst>
          </p:cNvPr>
          <p:cNvSpPr>
            <a:spLocks xmlns:a="http://schemas.openxmlformats.org/drawingml/2006/main" noGrp="1"/>
          </p:cNvSpPr>
          <p:nvPr/>
        </p:nvSpPr>
        <p:spPr>
          <a:xfrm xmlns:a="http://schemas.openxmlformats.org/drawingml/2006/main">
            <a:off x="571500" y="5762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06477"/>
                </a:solidFill>
                <a:latin typeface="Arial"/>
                <a:ea typeface="Arial"/>
                <a:cs typeface="Arial"/>
              </a:defRPr>
            </a:defPPr>
            <a:lvl1pPr>
              <a:defRPr sz="1800" b="0">
                <a:solidFill>
                  <a:srgbClr val="506477"/>
                </a:solidFill>
                <a:latin typeface="Arial"/>
                <a:ea typeface="Arial"/>
                <a:cs typeface="Arial"/>
              </a:defRPr>
            </a:lvl1pPr>
            <a:lvl2pPr>
              <a:defRPr sz="1800" b="0">
                <a:solidFill>
                  <a:srgbClr val="506477"/>
                </a:solidFill>
                <a:latin typeface="Arial"/>
                <a:ea typeface="Arial"/>
                <a:cs typeface="Arial"/>
              </a:defRPr>
            </a:lvl2pPr>
            <a:lvl3pPr>
              <a:defRPr sz="1800" b="0">
                <a:solidFill>
                  <a:srgbClr val="506477"/>
                </a:solidFill>
                <a:latin typeface="Arial"/>
                <a:ea typeface="Arial"/>
                <a:cs typeface="Arial"/>
              </a:defRPr>
            </a:lvl3pPr>
            <a:lvl4pPr>
              <a:defRPr sz="1800" b="0">
                <a:solidFill>
                  <a:srgbClr val="506477"/>
                </a:solidFill>
                <a:latin typeface="Arial"/>
                <a:ea typeface="Arial"/>
                <a:cs typeface="Arial"/>
              </a:defRPr>
            </a:lvl4pPr>
            <a:lvl5pPr>
              <a:defRPr sz="1800" b="0">
                <a:solidFill>
                  <a:srgbClr val="506477"/>
                </a:solidFill>
                <a:latin typeface="Arial"/>
                <a:ea typeface="Arial"/>
                <a:cs typeface="Arial"/>
              </a:defRPr>
            </a:lvl5pPr>
            <a:lvl6pPr>
              <a:defRPr sz="1800" b="0">
                <a:solidFill>
                  <a:srgbClr val="506477"/>
                </a:solidFill>
                <a:latin typeface="Arial"/>
                <a:ea typeface="Arial"/>
                <a:cs typeface="Arial"/>
              </a:defRPr>
            </a:lvl6pPr>
            <a:lvl7pPr>
              <a:defRPr sz="1800" b="0">
                <a:solidFill>
                  <a:srgbClr val="506477"/>
                </a:solidFill>
                <a:latin typeface="Arial"/>
                <a:ea typeface="Arial"/>
                <a:cs typeface="Arial"/>
              </a:defRPr>
            </a:lvl7pPr>
            <a:lvl8pPr>
              <a:defRPr sz="1800" b="0">
                <a:solidFill>
                  <a:srgbClr val="506477"/>
                </a:solidFill>
                <a:latin typeface="Arial"/>
                <a:ea typeface="Arial"/>
                <a:cs typeface="Arial"/>
              </a:defRPr>
            </a:lvl8pPr>
            <a:lvl9pPr>
              <a:defRPr sz="1800" b="0">
                <a:solidFill>
                  <a:srgbClr val="506477"/>
                </a:solidFill>
                <a:latin typeface="Arial"/>
                <a:ea typeface="Arial"/>
                <a:cs typeface="Arial"/>
              </a:defRPr>
            </a:lvl9pPr>
          </a:lstStyle>
          <a:p xmlns:a="http://schemas.openxmlformats.org/drawingml/2006/main">
            <a:pPr>
              <a:defRPr sz="1800" b="0">
                <a:solidFill>
                  <a:srgbClr val="506477"/>
                </a:solidFill>
                <a:latin typeface="Arial"/>
                <a:ea typeface="Arial"/>
                <a:cs typeface="Arial"/>
              </a:defRPr>
            </a:pPr>
            <a:r>
              <a:rPr sz="1800" b="0">
                <a:solidFill>
                  <a:srgbClr val="506477"/>
                </a:solidFill>
                <a:latin typeface="Arial"/>
                <a:ea typeface="Arial"/>
                <a:cs typeface="Arial"/>
              </a:rPr>
              <a:t>Original Zenodo training files. MOABB creates the MNE objects.</a:t>
            </a:r>
          </a:p>
        </p:txBody>
      </p:sp>
    </p:spTree>
    <p:extLst>
      <p:ext uri="{BB962C8B-B14F-4D97-AF65-F5344CB8AC3E}">
        <p14:creationId xmlns:p14="http://schemas.microsoft.com/office/powerpoint/2010/main" val="17056794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A8EFF51-F4F0-4FFB-981A-624CBBECEBD5}"/>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Filtering and resampling</a:t>
            </a:r>
          </a:p>
        </p:txBody>
      </p:sp>
      <p:sp>
        <p:nvSpPr>
          <p:cNvPr id="3" name="">
            <a:extLst xmlns:a="http://schemas.openxmlformats.org/drawingml/2006/main">
              <a:ext uri="{FF2B5EF4-FFF2-40B4-BE49-F238E27FC236}">
                <a16:creationId xmlns:a16="http://schemas.microsoft.com/office/drawing/2014/main" id="{D4693900-6481-44C2-928F-BF24B73C233E}"/>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4</a:t>
            </a:r>
          </a:p>
        </p:txBody>
      </p:sp>
      <p:pic>
        <p:nvPicPr>
          <p:cNvPr id="4" name="">
            <a:extLst xmlns:a="http://schemas.openxmlformats.org/drawingml/2006/main">
              <a:ext uri="{FF2B5EF4-FFF2-40B4-BE49-F238E27FC236}">
                <a16:creationId xmlns:a16="http://schemas.microsoft.com/office/drawing/2014/main" id="{F243CA40-3D89-4B55-94A5-FE7DAAEC736C}"/>
              </a:ext>
            </a:extLst>
          </p:cNvPr>
          <p:cNvPicPr>
            <a:picLocks xmlns:a="http://schemas.openxmlformats.org/drawingml/2006/main" noChangeAspect="1"/>
          </p:cNvPicPr>
          <p:nvPr/>
        </p:nvPicPr>
        <p:blipFill>
          <a:blip xmlns:r="http://schemas.openxmlformats.org/officeDocument/2006/relationships" xmlns:a="http://schemas.openxmlformats.org/drawingml/2006/main" r:embed="R702c04ea7d334df7"/>
          <a:stretch xmlns:a="http://schemas.openxmlformats.org/drawingml/2006/main"/>
        </p:blipFill>
        <p:spPr>
          <a:xfrm xmlns:a="http://schemas.openxmlformats.org/drawingml/2006/main">
            <a:off x="476250" y="2234443"/>
            <a:ext cx="7620000" cy="248436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1E5DA9C-CE5B-48F6-BCBA-CFD1E05B4811}"/>
              </a:ext>
            </a:extLst>
          </p:cNvPr>
          <p:cNvSpPr>
            <a:spLocks xmlns:a="http://schemas.openxmlformats.org/drawingml/2006/main" noGrp="1"/>
          </p:cNvSpPr>
          <p:nvPr/>
        </p:nvSpPr>
        <p:spPr>
          <a:xfrm xmlns:a="http://schemas.openxmlformats.org/drawingml/2006/main">
            <a:off x="8572500" y="1619250"/>
            <a:ext cx="30480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2D42"/>
                </a:solidFill>
                <a:latin typeface="Arial"/>
                <a:ea typeface="Arial"/>
                <a:cs typeface="Arial"/>
              </a:defRPr>
            </a:defPPr>
            <a:lvl1pPr>
              <a:defRPr sz="2025" b="0">
                <a:solidFill>
                  <a:srgbClr val="182D42"/>
                </a:solidFill>
                <a:latin typeface="Arial"/>
                <a:ea typeface="Arial"/>
                <a:cs typeface="Arial"/>
              </a:defRPr>
            </a:lvl1pPr>
            <a:lvl2pPr>
              <a:defRPr sz="2025" b="0">
                <a:solidFill>
                  <a:srgbClr val="182D42"/>
                </a:solidFill>
                <a:latin typeface="Arial"/>
                <a:ea typeface="Arial"/>
                <a:cs typeface="Arial"/>
              </a:defRPr>
            </a:lvl2pPr>
            <a:lvl3pPr>
              <a:defRPr sz="2025" b="0">
                <a:solidFill>
                  <a:srgbClr val="182D42"/>
                </a:solidFill>
                <a:latin typeface="Arial"/>
                <a:ea typeface="Arial"/>
                <a:cs typeface="Arial"/>
              </a:defRPr>
            </a:lvl3pPr>
            <a:lvl4pPr>
              <a:defRPr sz="2025" b="0">
                <a:solidFill>
                  <a:srgbClr val="182D42"/>
                </a:solidFill>
                <a:latin typeface="Arial"/>
                <a:ea typeface="Arial"/>
                <a:cs typeface="Arial"/>
              </a:defRPr>
            </a:lvl4pPr>
            <a:lvl5pPr>
              <a:defRPr sz="2025" b="0">
                <a:solidFill>
                  <a:srgbClr val="182D42"/>
                </a:solidFill>
                <a:latin typeface="Arial"/>
                <a:ea typeface="Arial"/>
                <a:cs typeface="Arial"/>
              </a:defRPr>
            </a:lvl5pPr>
            <a:lvl6pPr>
              <a:defRPr sz="2025" b="0">
                <a:solidFill>
                  <a:srgbClr val="182D42"/>
                </a:solidFill>
                <a:latin typeface="Arial"/>
                <a:ea typeface="Arial"/>
                <a:cs typeface="Arial"/>
              </a:defRPr>
            </a:lvl6pPr>
            <a:lvl7pPr>
              <a:defRPr sz="2025" b="0">
                <a:solidFill>
                  <a:srgbClr val="182D42"/>
                </a:solidFill>
                <a:latin typeface="Arial"/>
                <a:ea typeface="Arial"/>
                <a:cs typeface="Arial"/>
              </a:defRPr>
            </a:lvl7pPr>
            <a:lvl8pPr>
              <a:defRPr sz="2025" b="0">
                <a:solidFill>
                  <a:srgbClr val="182D42"/>
                </a:solidFill>
                <a:latin typeface="Arial"/>
                <a:ea typeface="Arial"/>
                <a:cs typeface="Arial"/>
              </a:defRPr>
            </a:lvl8pPr>
            <a:lvl9pPr>
              <a:defRPr sz="2025" b="0">
                <a:solidFill>
                  <a:srgbClr val="182D42"/>
                </a:solidFill>
                <a:latin typeface="Arial"/>
                <a:ea typeface="Arial"/>
                <a:cs typeface="Arial"/>
              </a:defRPr>
            </a:lvl9pPr>
          </a:lstStyle>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FIR 0.5–20 Hz</a:t>
            </a:r>
          </a:p>
          <a:p xmlns:a="http://schemas.openxmlformats.org/drawingml/2006/main">
            <a:r>
              <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512 to 128 Hz</a:t>
            </a:r>
          </a:p>
          <a:p xmlns:a="http://schemas.openxmlformats.org/drawingml/2006/main">
            <a:r>
              <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Events resampled together</a:t>
            </a:r>
          </a:p>
          <a:p xmlns:a="http://schemas.openxmlformats.org/drawingml/2006/main">
            <a:r>
              <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Recording-edge guard</a:t>
            </a:r>
          </a:p>
        </p:txBody>
      </p:sp>
      <p:sp>
        <p:nvSpPr>
          <p:cNvPr id="6" name="">
            <a:extLst xmlns:a="http://schemas.openxmlformats.org/drawingml/2006/main">
              <a:ext uri="{FF2B5EF4-FFF2-40B4-BE49-F238E27FC236}">
                <a16:creationId xmlns:a16="http://schemas.microsoft.com/office/drawing/2014/main" id="{4ABA0E78-75BC-48DC-A189-D7071862A5D0}"/>
              </a:ext>
            </a:extLst>
          </p:cNvPr>
          <p:cNvSpPr>
            <a:spLocks xmlns:a="http://schemas.openxmlformats.org/drawingml/2006/main" noGrp="1"/>
          </p:cNvSpPr>
          <p:nvPr/>
        </p:nvSpPr>
        <p:spPr>
          <a:xfrm xmlns:a="http://schemas.openxmlformats.org/drawingml/2006/main">
            <a:off x="571500" y="576262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16A93"/>
                </a:solidFill>
                <a:latin typeface="Arial"/>
                <a:ea typeface="Arial"/>
                <a:cs typeface="Arial"/>
              </a:defRPr>
            </a:defPPr>
            <a:lvl1pPr>
              <a:defRPr sz="2025" b="1">
                <a:solidFill>
                  <a:srgbClr val="216A93"/>
                </a:solidFill>
                <a:latin typeface="Arial"/>
                <a:ea typeface="Arial"/>
                <a:cs typeface="Arial"/>
              </a:defRPr>
            </a:lvl1pPr>
            <a:lvl2pPr>
              <a:defRPr sz="2025" b="1">
                <a:solidFill>
                  <a:srgbClr val="216A93"/>
                </a:solidFill>
                <a:latin typeface="Arial"/>
                <a:ea typeface="Arial"/>
                <a:cs typeface="Arial"/>
              </a:defRPr>
            </a:lvl2pPr>
            <a:lvl3pPr>
              <a:defRPr sz="2025" b="1">
                <a:solidFill>
                  <a:srgbClr val="216A93"/>
                </a:solidFill>
                <a:latin typeface="Arial"/>
                <a:ea typeface="Arial"/>
                <a:cs typeface="Arial"/>
              </a:defRPr>
            </a:lvl3pPr>
            <a:lvl4pPr>
              <a:defRPr sz="2025" b="1">
                <a:solidFill>
                  <a:srgbClr val="216A93"/>
                </a:solidFill>
                <a:latin typeface="Arial"/>
                <a:ea typeface="Arial"/>
                <a:cs typeface="Arial"/>
              </a:defRPr>
            </a:lvl4pPr>
            <a:lvl5pPr>
              <a:defRPr sz="2025" b="1">
                <a:solidFill>
                  <a:srgbClr val="216A93"/>
                </a:solidFill>
                <a:latin typeface="Arial"/>
                <a:ea typeface="Arial"/>
                <a:cs typeface="Arial"/>
              </a:defRPr>
            </a:lvl5pPr>
            <a:lvl6pPr>
              <a:defRPr sz="2025" b="1">
                <a:solidFill>
                  <a:srgbClr val="216A93"/>
                </a:solidFill>
                <a:latin typeface="Arial"/>
                <a:ea typeface="Arial"/>
                <a:cs typeface="Arial"/>
              </a:defRPr>
            </a:lvl6pPr>
            <a:lvl7pPr>
              <a:defRPr sz="2025" b="1">
                <a:solidFill>
                  <a:srgbClr val="216A93"/>
                </a:solidFill>
                <a:latin typeface="Arial"/>
                <a:ea typeface="Arial"/>
                <a:cs typeface="Arial"/>
              </a:defRPr>
            </a:lvl7pPr>
            <a:lvl8pPr>
              <a:defRPr sz="2025" b="1">
                <a:solidFill>
                  <a:srgbClr val="216A93"/>
                </a:solidFill>
                <a:latin typeface="Arial"/>
                <a:ea typeface="Arial"/>
                <a:cs typeface="Arial"/>
              </a:defRPr>
            </a:lvl8pPr>
            <a:lvl9pPr>
              <a:defRPr sz="2025" b="1">
                <a:solidFill>
                  <a:srgbClr val="216A93"/>
                </a:solidFill>
                <a:latin typeface="Arial"/>
                <a:ea typeface="Arial"/>
                <a:cs typeface="Arial"/>
              </a:defRPr>
            </a:lvl9pPr>
          </a:lstStyle>
          <a:p xmlns:a="http://schemas.openxmlformats.org/drawingml/2006/main">
            <a:pPr>
              <a:defRPr sz="2025" b="1">
                <a:solidFill>
                  <a:srgbClr val="216A93"/>
                </a:solidFill>
                <a:latin typeface="Arial"/>
                <a:ea typeface="Arial"/>
                <a:cs typeface="Arial"/>
              </a:defRPr>
            </a:pPr>
            <a:r>
              <a:rPr sz="2025" b="1">
                <a:solidFill>
                  <a:srgbClr val="216A93"/>
                </a:solidFill>
                <a:latin typeface="Arial"/>
                <a:ea typeface="Arial"/>
                <a:cs typeface="Arial"/>
              </a:rPr>
              <a:t>Per-run processing preserves run boundaries</a:t>
            </a:r>
          </a:p>
        </p:txBody>
      </p:sp>
    </p:spTree>
    <p:extLst>
      <p:ext uri="{BB962C8B-B14F-4D97-AF65-F5344CB8AC3E}">
        <p14:creationId xmlns:p14="http://schemas.microsoft.com/office/powerpoint/2010/main" val="2195442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55E1AE9-5E21-4248-BE37-6A84A736F75D}"/>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Artifact handling and quality control</a:t>
            </a:r>
          </a:p>
        </p:txBody>
      </p:sp>
      <p:sp>
        <p:nvSpPr>
          <p:cNvPr id="3" name="">
            <a:extLst xmlns:a="http://schemas.openxmlformats.org/drawingml/2006/main">
              <a:ext uri="{FF2B5EF4-FFF2-40B4-BE49-F238E27FC236}">
                <a16:creationId xmlns:a16="http://schemas.microsoft.com/office/drawing/2014/main" id="{CD8E3217-41A3-4937-BE62-4D0CB7E3A2FF}"/>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5</a:t>
            </a:r>
          </a:p>
        </p:txBody>
      </p:sp>
      <p:pic>
        <p:nvPicPr>
          <p:cNvPr id="4" name="">
            <a:extLst xmlns:a="http://schemas.openxmlformats.org/drawingml/2006/main">
              <a:ext uri="{FF2B5EF4-FFF2-40B4-BE49-F238E27FC236}">
                <a16:creationId xmlns:a16="http://schemas.microsoft.com/office/drawing/2014/main" id="{D7A6425E-4571-4C3F-9D23-71817F307BC5}"/>
              </a:ext>
            </a:extLst>
          </p:cNvPr>
          <p:cNvPicPr>
            <a:picLocks xmlns:a="http://schemas.openxmlformats.org/drawingml/2006/main" noChangeAspect="1"/>
          </p:cNvPicPr>
          <p:nvPr/>
        </p:nvPicPr>
        <p:blipFill>
          <a:blip xmlns:r="http://schemas.openxmlformats.org/officeDocument/2006/relationships" xmlns:a="http://schemas.openxmlformats.org/drawingml/2006/main" r:embed="R2aecd068a35d4720"/>
          <a:stretch xmlns:a="http://schemas.openxmlformats.org/drawingml/2006/main"/>
        </p:blipFill>
        <p:spPr>
          <a:xfrm xmlns:a="http://schemas.openxmlformats.org/drawingml/2006/main">
            <a:off x="476250" y="2329131"/>
            <a:ext cx="7524750" cy="219973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D0075C9-C855-4AC8-9797-BEE34494E60D}"/>
              </a:ext>
            </a:extLst>
          </p:cNvPr>
          <p:cNvSpPr>
            <a:spLocks xmlns:a="http://schemas.openxmlformats.org/drawingml/2006/main" noGrp="1"/>
          </p:cNvSpPr>
          <p:nvPr/>
        </p:nvSpPr>
        <p:spPr>
          <a:xfrm xmlns:a="http://schemas.openxmlformats.org/drawingml/2006/main">
            <a:off x="8382000" y="161925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216A93"/>
                </a:solidFill>
                <a:latin typeface="Arial"/>
                <a:ea typeface="Arial"/>
                <a:cs typeface="Arial"/>
              </a:defRPr>
            </a:defPPr>
            <a:lvl1pPr>
              <a:defRPr sz="2700" b="1">
                <a:solidFill>
                  <a:srgbClr val="216A93"/>
                </a:solidFill>
                <a:latin typeface="Arial"/>
                <a:ea typeface="Arial"/>
                <a:cs typeface="Arial"/>
              </a:defRPr>
            </a:lvl1pPr>
            <a:lvl2pPr>
              <a:defRPr sz="2700" b="1">
                <a:solidFill>
                  <a:srgbClr val="216A93"/>
                </a:solidFill>
                <a:latin typeface="Arial"/>
                <a:ea typeface="Arial"/>
                <a:cs typeface="Arial"/>
              </a:defRPr>
            </a:lvl2pPr>
            <a:lvl3pPr>
              <a:defRPr sz="2700" b="1">
                <a:solidFill>
                  <a:srgbClr val="216A93"/>
                </a:solidFill>
                <a:latin typeface="Arial"/>
                <a:ea typeface="Arial"/>
                <a:cs typeface="Arial"/>
              </a:defRPr>
            </a:lvl3pPr>
            <a:lvl4pPr>
              <a:defRPr sz="2700" b="1">
                <a:solidFill>
                  <a:srgbClr val="216A93"/>
                </a:solidFill>
                <a:latin typeface="Arial"/>
                <a:ea typeface="Arial"/>
                <a:cs typeface="Arial"/>
              </a:defRPr>
            </a:lvl4pPr>
            <a:lvl5pPr>
              <a:defRPr sz="2700" b="1">
                <a:solidFill>
                  <a:srgbClr val="216A93"/>
                </a:solidFill>
                <a:latin typeface="Arial"/>
                <a:ea typeface="Arial"/>
                <a:cs typeface="Arial"/>
              </a:defRPr>
            </a:lvl5pPr>
            <a:lvl6pPr>
              <a:defRPr sz="2700" b="1">
                <a:solidFill>
                  <a:srgbClr val="216A93"/>
                </a:solidFill>
                <a:latin typeface="Arial"/>
                <a:ea typeface="Arial"/>
                <a:cs typeface="Arial"/>
              </a:defRPr>
            </a:lvl6pPr>
            <a:lvl7pPr>
              <a:defRPr sz="2700" b="1">
                <a:solidFill>
                  <a:srgbClr val="216A93"/>
                </a:solidFill>
                <a:latin typeface="Arial"/>
                <a:ea typeface="Arial"/>
                <a:cs typeface="Arial"/>
              </a:defRPr>
            </a:lvl7pPr>
            <a:lvl8pPr>
              <a:defRPr sz="2700" b="1">
                <a:solidFill>
                  <a:srgbClr val="216A93"/>
                </a:solidFill>
                <a:latin typeface="Arial"/>
                <a:ea typeface="Arial"/>
                <a:cs typeface="Arial"/>
              </a:defRPr>
            </a:lvl8pPr>
            <a:lvl9pPr>
              <a:defRPr sz="2700" b="1">
                <a:solidFill>
                  <a:srgbClr val="216A93"/>
                </a:solidFill>
                <a:latin typeface="Arial"/>
                <a:ea typeface="Arial"/>
                <a:cs typeface="Arial"/>
              </a:defRPr>
            </a:lvl9pPr>
          </a:lstStyle>
          <a:p xmlns:a="http://schemas.openxmlformats.org/drawingml/2006/main">
            <a:pPr>
              <a:defRPr sz="2700" b="1">
                <a:solidFill>
                  <a:srgbClr val="216A93"/>
                </a:solidFill>
                <a:latin typeface="Arial"/>
                <a:ea typeface="Arial"/>
                <a:cs typeface="Arial"/>
              </a:defRPr>
            </a:pPr>
            <a:r>
              <a:rPr sz="2700" b="1">
                <a:solidFill>
                  <a:srgbClr val="216A93"/>
                </a:solidFill>
                <a:latin typeface="Arial"/>
                <a:ea typeface="Arial"/>
                <a:cs typeface="Arial"/>
              </a:rPr>
              <a:t>97.40% retained</a:t>
            </a:r>
          </a:p>
        </p:txBody>
      </p:sp>
      <p:sp>
        <p:nvSpPr>
          <p:cNvPr id="6" name="">
            <a:extLst xmlns:a="http://schemas.openxmlformats.org/drawingml/2006/main">
              <a:ext uri="{FF2B5EF4-FFF2-40B4-BE49-F238E27FC236}">
                <a16:creationId xmlns:a16="http://schemas.microsoft.com/office/drawing/2014/main" id="{FD5B3CFB-D9F3-476F-853C-FA7BB9089657}"/>
              </a:ext>
            </a:extLst>
          </p:cNvPr>
          <p:cNvSpPr>
            <a:spLocks xmlns:a="http://schemas.openxmlformats.org/drawingml/2006/main" noGrp="1"/>
          </p:cNvSpPr>
          <p:nvPr/>
        </p:nvSpPr>
        <p:spPr>
          <a:xfrm xmlns:a="http://schemas.openxmlformats.org/drawingml/2006/main">
            <a:off x="8382000" y="2571750"/>
            <a:ext cx="31432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2D42"/>
                </a:solidFill>
                <a:latin typeface="Arial"/>
                <a:ea typeface="Arial"/>
                <a:cs typeface="Arial"/>
              </a:defRPr>
            </a:defPPr>
            <a:lvl1pPr>
              <a:defRPr sz="1875" b="0">
                <a:solidFill>
                  <a:srgbClr val="182D42"/>
                </a:solidFill>
                <a:latin typeface="Arial"/>
                <a:ea typeface="Arial"/>
                <a:cs typeface="Arial"/>
              </a:defRPr>
            </a:lvl1pPr>
            <a:lvl2pPr>
              <a:defRPr sz="1875" b="0">
                <a:solidFill>
                  <a:srgbClr val="182D42"/>
                </a:solidFill>
                <a:latin typeface="Arial"/>
                <a:ea typeface="Arial"/>
                <a:cs typeface="Arial"/>
              </a:defRPr>
            </a:lvl2pPr>
            <a:lvl3pPr>
              <a:defRPr sz="1875" b="0">
                <a:solidFill>
                  <a:srgbClr val="182D42"/>
                </a:solidFill>
                <a:latin typeface="Arial"/>
                <a:ea typeface="Arial"/>
                <a:cs typeface="Arial"/>
              </a:defRPr>
            </a:lvl3pPr>
            <a:lvl4pPr>
              <a:defRPr sz="1875" b="0">
                <a:solidFill>
                  <a:srgbClr val="182D42"/>
                </a:solidFill>
                <a:latin typeface="Arial"/>
                <a:ea typeface="Arial"/>
                <a:cs typeface="Arial"/>
              </a:defRPr>
            </a:lvl4pPr>
            <a:lvl5pPr>
              <a:defRPr sz="1875" b="0">
                <a:solidFill>
                  <a:srgbClr val="182D42"/>
                </a:solidFill>
                <a:latin typeface="Arial"/>
                <a:ea typeface="Arial"/>
                <a:cs typeface="Arial"/>
              </a:defRPr>
            </a:lvl5pPr>
            <a:lvl6pPr>
              <a:defRPr sz="1875" b="0">
                <a:solidFill>
                  <a:srgbClr val="182D42"/>
                </a:solidFill>
                <a:latin typeface="Arial"/>
                <a:ea typeface="Arial"/>
                <a:cs typeface="Arial"/>
              </a:defRPr>
            </a:lvl6pPr>
            <a:lvl7pPr>
              <a:defRPr sz="1875" b="0">
                <a:solidFill>
                  <a:srgbClr val="182D42"/>
                </a:solidFill>
                <a:latin typeface="Arial"/>
                <a:ea typeface="Arial"/>
                <a:cs typeface="Arial"/>
              </a:defRPr>
            </a:lvl7pPr>
            <a:lvl8pPr>
              <a:defRPr sz="1875" b="0">
                <a:solidFill>
                  <a:srgbClr val="182D42"/>
                </a:solidFill>
                <a:latin typeface="Arial"/>
                <a:ea typeface="Arial"/>
                <a:cs typeface="Arial"/>
              </a:defRPr>
            </a:lvl8pPr>
            <a:lvl9pPr>
              <a:defRPr sz="1875" b="0">
                <a:solidFill>
                  <a:srgbClr val="182D42"/>
                </a:solidFill>
                <a:latin typeface="Arial"/>
                <a:ea typeface="Arial"/>
                <a:cs typeface="Arial"/>
              </a:defRPr>
            </a:lvl9pPr>
          </a:lstStyle>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Edge drops</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3 target / 12 non-target</a:t>
            </a:r>
          </a:p>
          <a:p xmlns:a="http://schemas.openxmlformats.org/drawingml/2006/main">
            <a:r>
              <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Amplitude drops</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80 target / 329 non-target</a:t>
            </a:r>
          </a:p>
          <a:p xmlns:a="http://schemas.openxmlformats.org/drawingml/2006/main">
            <a:r>
              <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100 µV peak-to-peak</a:t>
            </a:r>
          </a:p>
        </p:txBody>
      </p:sp>
      <p:sp>
        <p:nvSpPr>
          <p:cNvPr id="7" name="">
            <a:extLst xmlns:a="http://schemas.openxmlformats.org/drawingml/2006/main">
              <a:ext uri="{FF2B5EF4-FFF2-40B4-BE49-F238E27FC236}">
                <a16:creationId xmlns:a16="http://schemas.microsoft.com/office/drawing/2014/main" id="{B2B78E45-F585-409E-9243-68547DF70711}"/>
              </a:ext>
            </a:extLst>
          </p:cNvPr>
          <p:cNvSpPr>
            <a:spLocks xmlns:a="http://schemas.openxmlformats.org/drawingml/2006/main" noGrp="1"/>
          </p:cNvSpPr>
          <p:nvPr/>
        </p:nvSpPr>
        <p:spPr>
          <a:xfrm xmlns:a="http://schemas.openxmlformats.org/drawingml/2006/main">
            <a:off x="571500" y="58102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06477"/>
                </a:solidFill>
                <a:latin typeface="Arial"/>
                <a:ea typeface="Arial"/>
                <a:cs typeface="Arial"/>
              </a:defRPr>
            </a:defPPr>
            <a:lvl1pPr>
              <a:defRPr sz="1800" b="0">
                <a:solidFill>
                  <a:srgbClr val="506477"/>
                </a:solidFill>
                <a:latin typeface="Arial"/>
                <a:ea typeface="Arial"/>
                <a:cs typeface="Arial"/>
              </a:defRPr>
            </a:lvl1pPr>
            <a:lvl2pPr>
              <a:defRPr sz="1800" b="0">
                <a:solidFill>
                  <a:srgbClr val="506477"/>
                </a:solidFill>
                <a:latin typeface="Arial"/>
                <a:ea typeface="Arial"/>
                <a:cs typeface="Arial"/>
              </a:defRPr>
            </a:lvl2pPr>
            <a:lvl3pPr>
              <a:defRPr sz="1800" b="0">
                <a:solidFill>
                  <a:srgbClr val="506477"/>
                </a:solidFill>
                <a:latin typeface="Arial"/>
                <a:ea typeface="Arial"/>
                <a:cs typeface="Arial"/>
              </a:defRPr>
            </a:lvl3pPr>
            <a:lvl4pPr>
              <a:defRPr sz="1800" b="0">
                <a:solidFill>
                  <a:srgbClr val="506477"/>
                </a:solidFill>
                <a:latin typeface="Arial"/>
                <a:ea typeface="Arial"/>
                <a:cs typeface="Arial"/>
              </a:defRPr>
            </a:lvl4pPr>
            <a:lvl5pPr>
              <a:defRPr sz="1800" b="0">
                <a:solidFill>
                  <a:srgbClr val="506477"/>
                </a:solidFill>
                <a:latin typeface="Arial"/>
                <a:ea typeface="Arial"/>
                <a:cs typeface="Arial"/>
              </a:defRPr>
            </a:lvl5pPr>
            <a:lvl6pPr>
              <a:defRPr sz="1800" b="0">
                <a:solidFill>
                  <a:srgbClr val="506477"/>
                </a:solidFill>
                <a:latin typeface="Arial"/>
                <a:ea typeface="Arial"/>
                <a:cs typeface="Arial"/>
              </a:defRPr>
            </a:lvl6pPr>
            <a:lvl7pPr>
              <a:defRPr sz="1800" b="0">
                <a:solidFill>
                  <a:srgbClr val="506477"/>
                </a:solidFill>
                <a:latin typeface="Arial"/>
                <a:ea typeface="Arial"/>
                <a:cs typeface="Arial"/>
              </a:defRPr>
            </a:lvl7pPr>
            <a:lvl8pPr>
              <a:defRPr sz="1800" b="0">
                <a:solidFill>
                  <a:srgbClr val="506477"/>
                </a:solidFill>
                <a:latin typeface="Arial"/>
                <a:ea typeface="Arial"/>
                <a:cs typeface="Arial"/>
              </a:defRPr>
            </a:lvl8pPr>
            <a:lvl9pPr>
              <a:defRPr sz="1800" b="0">
                <a:solidFill>
                  <a:srgbClr val="506477"/>
                </a:solidFill>
                <a:latin typeface="Arial"/>
                <a:ea typeface="Arial"/>
                <a:cs typeface="Arial"/>
              </a:defRPr>
            </a:lvl9pPr>
          </a:lstStyle>
          <a:p xmlns:a="http://schemas.openxmlformats.org/drawingml/2006/main">
            <a:pPr>
              <a:defRPr sz="1800" b="0">
                <a:solidFill>
                  <a:srgbClr val="506477"/>
                </a:solidFill>
                <a:latin typeface="Arial"/>
                <a:ea typeface="Arial"/>
                <a:cs typeface="Arial"/>
              </a:defRPr>
            </a:pPr>
            <a:r>
              <a:rPr sz="1800" b="0">
                <a:solidFill>
                  <a:srgbClr val="506477"/>
                </a:solidFill>
                <a:latin typeface="Arial"/>
                <a:ea typeface="Arial"/>
                <a:cs typeface="Arial"/>
              </a:rPr>
              <a:t>ICA is offline and label-free. Residual artifacts remain possible.</a:t>
            </a:r>
          </a:p>
        </p:txBody>
      </p:sp>
    </p:spTree>
    <p:extLst>
      <p:ext uri="{BB962C8B-B14F-4D97-AF65-F5344CB8AC3E}">
        <p14:creationId xmlns:p14="http://schemas.microsoft.com/office/powerpoint/2010/main" val="163858817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993FF1B-9787-4ABF-BF60-29E63D67B034}"/>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P300 physiology before decoding</a:t>
            </a:r>
          </a:p>
        </p:txBody>
      </p:sp>
      <p:sp>
        <p:nvSpPr>
          <p:cNvPr id="3" name="">
            <a:extLst xmlns:a="http://schemas.openxmlformats.org/drawingml/2006/main">
              <a:ext uri="{FF2B5EF4-FFF2-40B4-BE49-F238E27FC236}">
                <a16:creationId xmlns:a16="http://schemas.microsoft.com/office/drawing/2014/main" id="{5445FE9B-6F86-4E2D-B43C-CAE3C16091F5}"/>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6</a:t>
            </a:r>
          </a:p>
        </p:txBody>
      </p:sp>
      <p:pic>
        <p:nvPicPr>
          <p:cNvPr id="4" name="">
            <a:extLst xmlns:a="http://schemas.openxmlformats.org/drawingml/2006/main">
              <a:ext uri="{FF2B5EF4-FFF2-40B4-BE49-F238E27FC236}">
                <a16:creationId xmlns:a16="http://schemas.microsoft.com/office/drawing/2014/main" id="{0D3988F8-A127-4DD5-B3AE-936FFCF455C4}"/>
              </a:ext>
            </a:extLst>
          </p:cNvPr>
          <p:cNvPicPr>
            <a:picLocks xmlns:a="http://schemas.openxmlformats.org/drawingml/2006/main" noChangeAspect="1"/>
          </p:cNvPicPr>
          <p:nvPr/>
        </p:nvPicPr>
        <p:blipFill>
          <a:blip xmlns:r="http://schemas.openxmlformats.org/officeDocument/2006/relationships" xmlns:a="http://schemas.openxmlformats.org/drawingml/2006/main" r:embed="R4a3e92483d0c483c"/>
          <a:stretch xmlns:a="http://schemas.openxmlformats.org/drawingml/2006/main"/>
        </p:blipFill>
        <p:spPr>
          <a:xfrm xmlns:a="http://schemas.openxmlformats.org/drawingml/2006/main">
            <a:off x="1749518" y="1381125"/>
            <a:ext cx="5454463" cy="280987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35EC1A9-642E-49C2-840E-E15A4B207F57}"/>
              </a:ext>
            </a:extLst>
          </p:cNvPr>
          <p:cNvPicPr>
            <a:picLocks xmlns:a="http://schemas.openxmlformats.org/drawingml/2006/main" noChangeAspect="1"/>
          </p:cNvPicPr>
          <p:nvPr/>
        </p:nvPicPr>
        <p:blipFill>
          <a:blip xmlns:r="http://schemas.openxmlformats.org/officeDocument/2006/relationships" xmlns:a="http://schemas.openxmlformats.org/drawingml/2006/main" r:embed="R74deb4baf2894ee4"/>
          <a:stretch xmlns:a="http://schemas.openxmlformats.org/drawingml/2006/main"/>
        </p:blipFill>
        <p:spPr>
          <a:xfrm xmlns:a="http://schemas.openxmlformats.org/drawingml/2006/main">
            <a:off x="1536533" y="4238625"/>
            <a:ext cx="5880434" cy="1619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9FA506C-6005-451F-BC4B-A653195A206E}"/>
              </a:ext>
            </a:extLst>
          </p:cNvPr>
          <p:cNvSpPr>
            <a:spLocks xmlns:a="http://schemas.openxmlformats.org/drawingml/2006/main" noGrp="1"/>
          </p:cNvSpPr>
          <p:nvPr/>
        </p:nvSpPr>
        <p:spPr>
          <a:xfrm xmlns:a="http://schemas.openxmlformats.org/drawingml/2006/main">
            <a:off x="8953500" y="1619250"/>
            <a:ext cx="266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16A93"/>
                </a:solidFill>
                <a:latin typeface="Arial"/>
                <a:ea typeface="Arial"/>
                <a:cs typeface="Arial"/>
              </a:defRPr>
            </a:defPPr>
            <a:lvl1pPr>
              <a:defRPr sz="2175" b="1">
                <a:solidFill>
                  <a:srgbClr val="216A93"/>
                </a:solidFill>
                <a:latin typeface="Arial"/>
                <a:ea typeface="Arial"/>
                <a:cs typeface="Arial"/>
              </a:defRPr>
            </a:lvl1pPr>
            <a:lvl2pPr>
              <a:defRPr sz="2175" b="1">
                <a:solidFill>
                  <a:srgbClr val="216A93"/>
                </a:solidFill>
                <a:latin typeface="Arial"/>
                <a:ea typeface="Arial"/>
                <a:cs typeface="Arial"/>
              </a:defRPr>
            </a:lvl2pPr>
            <a:lvl3pPr>
              <a:defRPr sz="2175" b="1">
                <a:solidFill>
                  <a:srgbClr val="216A93"/>
                </a:solidFill>
                <a:latin typeface="Arial"/>
                <a:ea typeface="Arial"/>
                <a:cs typeface="Arial"/>
              </a:defRPr>
            </a:lvl3pPr>
            <a:lvl4pPr>
              <a:defRPr sz="2175" b="1">
                <a:solidFill>
                  <a:srgbClr val="216A93"/>
                </a:solidFill>
                <a:latin typeface="Arial"/>
                <a:ea typeface="Arial"/>
                <a:cs typeface="Arial"/>
              </a:defRPr>
            </a:lvl4pPr>
            <a:lvl5pPr>
              <a:defRPr sz="2175" b="1">
                <a:solidFill>
                  <a:srgbClr val="216A93"/>
                </a:solidFill>
                <a:latin typeface="Arial"/>
                <a:ea typeface="Arial"/>
                <a:cs typeface="Arial"/>
              </a:defRPr>
            </a:lvl5pPr>
            <a:lvl6pPr>
              <a:defRPr sz="2175" b="1">
                <a:solidFill>
                  <a:srgbClr val="216A93"/>
                </a:solidFill>
                <a:latin typeface="Arial"/>
                <a:ea typeface="Arial"/>
                <a:cs typeface="Arial"/>
              </a:defRPr>
            </a:lvl6pPr>
            <a:lvl7pPr>
              <a:defRPr sz="2175" b="1">
                <a:solidFill>
                  <a:srgbClr val="216A93"/>
                </a:solidFill>
                <a:latin typeface="Arial"/>
                <a:ea typeface="Arial"/>
                <a:cs typeface="Arial"/>
              </a:defRPr>
            </a:lvl7pPr>
            <a:lvl8pPr>
              <a:defRPr sz="2175" b="1">
                <a:solidFill>
                  <a:srgbClr val="216A93"/>
                </a:solidFill>
                <a:latin typeface="Arial"/>
                <a:ea typeface="Arial"/>
                <a:cs typeface="Arial"/>
              </a:defRPr>
            </a:lvl8pPr>
            <a:lvl9pPr>
              <a:defRPr sz="2175" b="1">
                <a:solidFill>
                  <a:srgbClr val="216A93"/>
                </a:solidFill>
                <a:latin typeface="Arial"/>
                <a:ea typeface="Arial"/>
                <a:cs typeface="Arial"/>
              </a:defRPr>
            </a:lvl9pPr>
          </a:lstStyle>
          <a:p xmlns:a="http://schemas.openxmlformats.org/drawingml/2006/main">
            <a:pPr>
              <a:defRPr sz="2175" b="1">
                <a:solidFill>
                  <a:srgbClr val="216A93"/>
                </a:solidFill>
                <a:latin typeface="Arial"/>
                <a:ea typeface="Arial"/>
                <a:cs typeface="Arial"/>
              </a:defRPr>
            </a:pPr>
            <a:r>
              <a:rPr sz="2175" b="1">
                <a:solidFill>
                  <a:srgbClr val="216A93"/>
                </a:solidFill>
                <a:latin typeface="Arial"/>
                <a:ea typeface="Arial"/>
                <a:cs typeface="Arial"/>
              </a:rPr>
              <a:t>Fixed Pz window</a:t>
            </a:r>
          </a:p>
          <a:p xmlns:a="http://schemas.openxmlformats.org/drawingml/2006/main">
            <a:pPr>
              <a:defRPr sz="2175" b="1">
                <a:solidFill>
                  <a:srgbClr val="216A93"/>
                </a:solidFill>
                <a:latin typeface="Arial"/>
                <a:ea typeface="Arial"/>
                <a:cs typeface="Arial"/>
              </a:defRPr>
            </a:pPr>
            <a:r>
              <a:rPr sz="2175" b="1">
                <a:solidFill>
                  <a:srgbClr val="216A93"/>
                </a:solidFill>
                <a:latin typeface="Arial"/>
                <a:ea typeface="Arial"/>
                <a:cs typeface="Arial"/>
              </a:rPr>
              <a:t>250–600 ms</a:t>
            </a:r>
          </a:p>
        </p:txBody>
      </p:sp>
      <p:sp>
        <p:nvSpPr>
          <p:cNvPr id="7" name="">
            <a:extLst xmlns:a="http://schemas.openxmlformats.org/drawingml/2006/main">
              <a:ext uri="{FF2B5EF4-FFF2-40B4-BE49-F238E27FC236}">
                <a16:creationId xmlns:a16="http://schemas.microsoft.com/office/drawing/2014/main" id="{1E0891FF-26F8-4B38-8F08-1DA79E9C8A2B}"/>
              </a:ext>
            </a:extLst>
          </p:cNvPr>
          <p:cNvSpPr>
            <a:spLocks xmlns:a="http://schemas.openxmlformats.org/drawingml/2006/main" noGrp="1"/>
          </p:cNvSpPr>
          <p:nvPr/>
        </p:nvSpPr>
        <p:spPr>
          <a:xfrm xmlns:a="http://schemas.openxmlformats.org/drawingml/2006/main">
            <a:off x="8953500" y="3143250"/>
            <a:ext cx="2667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2D42"/>
                </a:solidFill>
                <a:latin typeface="Arial"/>
                <a:ea typeface="Arial"/>
                <a:cs typeface="Arial"/>
              </a:defRPr>
            </a:defPPr>
            <a:lvl1pPr>
              <a:defRPr sz="2025" b="0">
                <a:solidFill>
                  <a:srgbClr val="182D42"/>
                </a:solidFill>
                <a:latin typeface="Arial"/>
                <a:ea typeface="Arial"/>
                <a:cs typeface="Arial"/>
              </a:defRPr>
            </a:lvl1pPr>
            <a:lvl2pPr>
              <a:defRPr sz="2025" b="0">
                <a:solidFill>
                  <a:srgbClr val="182D42"/>
                </a:solidFill>
                <a:latin typeface="Arial"/>
                <a:ea typeface="Arial"/>
                <a:cs typeface="Arial"/>
              </a:defRPr>
            </a:lvl2pPr>
            <a:lvl3pPr>
              <a:defRPr sz="2025" b="0">
                <a:solidFill>
                  <a:srgbClr val="182D42"/>
                </a:solidFill>
                <a:latin typeface="Arial"/>
                <a:ea typeface="Arial"/>
                <a:cs typeface="Arial"/>
              </a:defRPr>
            </a:lvl3pPr>
            <a:lvl4pPr>
              <a:defRPr sz="2025" b="0">
                <a:solidFill>
                  <a:srgbClr val="182D42"/>
                </a:solidFill>
                <a:latin typeface="Arial"/>
                <a:ea typeface="Arial"/>
                <a:cs typeface="Arial"/>
              </a:defRPr>
            </a:lvl4pPr>
            <a:lvl5pPr>
              <a:defRPr sz="2025" b="0">
                <a:solidFill>
                  <a:srgbClr val="182D42"/>
                </a:solidFill>
                <a:latin typeface="Arial"/>
                <a:ea typeface="Arial"/>
                <a:cs typeface="Arial"/>
              </a:defRPr>
            </a:lvl5pPr>
            <a:lvl6pPr>
              <a:defRPr sz="2025" b="0">
                <a:solidFill>
                  <a:srgbClr val="182D42"/>
                </a:solidFill>
                <a:latin typeface="Arial"/>
                <a:ea typeface="Arial"/>
                <a:cs typeface="Arial"/>
              </a:defRPr>
            </a:lvl6pPr>
            <a:lvl7pPr>
              <a:defRPr sz="2025" b="0">
                <a:solidFill>
                  <a:srgbClr val="182D42"/>
                </a:solidFill>
                <a:latin typeface="Arial"/>
                <a:ea typeface="Arial"/>
                <a:cs typeface="Arial"/>
              </a:defRPr>
            </a:lvl7pPr>
            <a:lvl8pPr>
              <a:defRPr sz="2025" b="0">
                <a:solidFill>
                  <a:srgbClr val="182D42"/>
                </a:solidFill>
                <a:latin typeface="Arial"/>
                <a:ea typeface="Arial"/>
                <a:cs typeface="Arial"/>
              </a:defRPr>
            </a:lvl8pPr>
            <a:lvl9pPr>
              <a:defRPr sz="2025" b="0">
                <a:solidFill>
                  <a:srgbClr val="182D42"/>
                </a:solidFill>
                <a:latin typeface="Arial"/>
                <a:ea typeface="Arial"/>
                <a:cs typeface="Arial"/>
              </a:defRPr>
            </a:lvl9pPr>
          </a:lstStyle>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16/17 positive</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subject window means</a:t>
            </a:r>
          </a:p>
          <a:p xmlns:a="http://schemas.openxmlformats.org/drawingml/2006/main">
            <a:r>
              <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Mean contrast</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2.74 µV</a:t>
            </a:r>
          </a:p>
        </p:txBody>
      </p:sp>
    </p:spTree>
    <p:extLst>
      <p:ext uri="{BB962C8B-B14F-4D97-AF65-F5344CB8AC3E}">
        <p14:creationId xmlns:p14="http://schemas.microsoft.com/office/powerpoint/2010/main" val="14907521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15EB914-7F5C-4ABA-95DB-0272550E70B5}"/>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Features and linear classifier</a:t>
            </a:r>
          </a:p>
        </p:txBody>
      </p:sp>
      <p:sp>
        <p:nvSpPr>
          <p:cNvPr id="3" name="">
            <a:extLst xmlns:a="http://schemas.openxmlformats.org/drawingml/2006/main">
              <a:ext uri="{FF2B5EF4-FFF2-40B4-BE49-F238E27FC236}">
                <a16:creationId xmlns:a16="http://schemas.microsoft.com/office/drawing/2014/main" id="{FFB07024-C819-4C5F-9E6B-452335B80FEC}"/>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7</a:t>
            </a:r>
          </a:p>
        </p:txBody>
      </p:sp>
      <p:graphicFrame>
        <p:nvGraphicFramePr>
          <p:cNvPr id="4" name="">
            <a:extLst xmlns:a="http://schemas.openxmlformats.org/drawingml/2006/main">
              <a:ext uri="{FF2B5EF4-FFF2-40B4-BE49-F238E27FC236}">
                <a16:creationId xmlns:a16="http://schemas.microsoft.com/office/drawing/2014/main" id="{1176B4B2-4457-4395-9D35-7C25AC0FFB93}"/>
              </a:ext>
            </a:extLst>
          </p:cNvPr>
          <p:cNvGraphicFramePr/>
          <p:nvPr/>
        </p:nvGraphicFramePr>
        <p:xfrm>
          <a:off xmlns:a="http://schemas.openxmlformats.org/drawingml/2006/main" x="571500" y="1476375"/>
          <a:ext xmlns:a="http://schemas.openxmlformats.org/drawingml/2006/main" cx="11049000" cy="3714750"/>
        </p:xfrm>
        <a:graphic xmlns:a="http://schemas.openxmlformats.org/drawingml/2006/main">
          <a:graphicData uri="http://schemas.openxmlformats.org/drawingml/2006/table">
            <a:tbl>
              <a:tblPr/>
              <a:tblGrid>
                <a:gridCol w="2857500"/>
                <a:gridCol w="8191500"/>
              </a:tblGrid>
              <a:tr h="619125">
                <a:tc>
                  <a:txBody>
                    <a:bodyPr/>
                    <a:lstStyle/>
                    <a:p>
                      <a:r>
                        <a:rPr sz="1875" b="1">
                          <a:solidFill>
                            <a:srgbClr val="FFFFFF"/>
                          </a:solidFill>
                          <a:latin typeface="Arial"/>
                          <a:ea typeface="Arial"/>
                          <a:cs typeface="Arial"/>
                        </a:rPr>
                        <a:t>Step</a:t>
                      </a:r>
                    </a:p>
                  </a:txBody>
                  <a:tcPr marL="91440" marR="91440" marT="45720" marB="45720">
                    <a:lnL w="9525">
                      <a:solidFill>
                        <a:srgbClr val="D6E0E7"/>
                      </a:solidFill>
                      <a:prstDash val="solid"/>
                    </a:lnL>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Fixed specification</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r>
              <a:tr h="619125">
                <a:tc>
                  <a:txBody>
                    <a:bodyPr/>
                    <a:lstStyle/>
                    <a:p>
                      <a:r>
                        <a:rPr sz="1875" b="0">
                          <a:solidFill>
                            <a:srgbClr val="182D42"/>
                          </a:solidFill>
                          <a:latin typeface="Arial"/>
                          <a:ea typeface="Arial"/>
                          <a:cs typeface="Arial"/>
                        </a:rPr>
                        <a:t>Channels</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Cz, P3, Pz, P4, Oz</a:t>
                      </a:r>
                    </a:p>
                  </a:txBody>
                  <a:tcPr marL="91440" marR="91440" marT="45720" marB="45720">
                    <a:lnR w="9525">
                      <a:solidFill>
                        <a:srgbClr val="D6E0E7"/>
                      </a:solidFill>
                      <a:prstDash val="solid"/>
                    </a:lnR>
                    <a:lnB w="9525">
                      <a:solidFill>
                        <a:srgbClr val="D6E0E7"/>
                      </a:solidFill>
                      <a:prstDash val="solid"/>
                    </a:lnB>
                    <a:solidFill>
                      <a:srgbClr val="FFFFFF"/>
                    </a:solidFill>
                  </a:tcPr>
                </a:tc>
              </a:tr>
              <a:tr h="619125">
                <a:tc>
                  <a:txBody>
                    <a:bodyPr/>
                    <a:lstStyle/>
                    <a:p>
                      <a:r>
                        <a:rPr sz="1875" b="0">
                          <a:solidFill>
                            <a:srgbClr val="182D42"/>
                          </a:solidFill>
                          <a:latin typeface="Arial"/>
                          <a:ea typeface="Arial"/>
                          <a:cs typeface="Arial"/>
                        </a:rPr>
                        <a:t>ERP features</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16 × 50 ms windows over 0–800 ms</a:t>
                      </a:r>
                    </a:p>
                  </a:txBody>
                  <a:tcPr marL="91440" marR="91440" marT="45720" marB="45720">
                    <a:lnR w="9525">
                      <a:solidFill>
                        <a:srgbClr val="D6E0E7"/>
                      </a:solidFill>
                      <a:prstDash val="solid"/>
                    </a:lnR>
                    <a:lnB w="9525">
                      <a:solidFill>
                        <a:srgbClr val="D6E0E7"/>
                      </a:solidFill>
                      <a:prstDash val="solid"/>
                    </a:lnB>
                    <a:solidFill>
                      <a:srgbClr val="FFFFFF"/>
                    </a:solidFill>
                  </a:tcPr>
                </a:tc>
              </a:tr>
              <a:tr h="619125">
                <a:tc>
                  <a:txBody>
                    <a:bodyPr/>
                    <a:lstStyle/>
                    <a:p>
                      <a:r>
                        <a:rPr sz="1875" b="0">
                          <a:solidFill>
                            <a:srgbClr val="182D42"/>
                          </a:solidFill>
                          <a:latin typeface="Arial"/>
                          <a:ea typeface="Arial"/>
                          <a:cs typeface="Arial"/>
                        </a:rPr>
                        <a:t>Dimension</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5 × 16 = 80 features</a:t>
                      </a:r>
                    </a:p>
                  </a:txBody>
                  <a:tcPr marL="91440" marR="91440" marT="45720" marB="45720">
                    <a:lnR w="9525">
                      <a:solidFill>
                        <a:srgbClr val="D6E0E7"/>
                      </a:solidFill>
                      <a:prstDash val="solid"/>
                    </a:lnR>
                    <a:lnB w="9525">
                      <a:solidFill>
                        <a:srgbClr val="D6E0E7"/>
                      </a:solidFill>
                      <a:prstDash val="solid"/>
                    </a:lnB>
                    <a:solidFill>
                      <a:srgbClr val="FFFFFF"/>
                    </a:solidFill>
                  </a:tcPr>
                </a:tc>
              </a:tr>
              <a:tr h="619125">
                <a:tc>
                  <a:txBody>
                    <a:bodyPr/>
                    <a:lstStyle/>
                    <a:p>
                      <a:r>
                        <a:rPr sz="1875" b="0">
                          <a:solidFill>
                            <a:srgbClr val="182D42"/>
                          </a:solidFill>
                          <a:latin typeface="Arial"/>
                          <a:ea typeface="Arial"/>
                          <a:cs typeface="Arial"/>
                        </a:rPr>
                        <a:t>Scaling</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Training-fold StandardScaler</a:t>
                      </a:r>
                    </a:p>
                  </a:txBody>
                  <a:tcPr marL="91440" marR="91440" marT="45720" marB="45720">
                    <a:lnR w="9525">
                      <a:solidFill>
                        <a:srgbClr val="D6E0E7"/>
                      </a:solidFill>
                      <a:prstDash val="solid"/>
                    </a:lnR>
                    <a:lnB w="9525">
                      <a:solidFill>
                        <a:srgbClr val="D6E0E7"/>
                      </a:solidFill>
                      <a:prstDash val="solid"/>
                    </a:lnB>
                    <a:solidFill>
                      <a:srgbClr val="FFFFFF"/>
                    </a:solidFill>
                  </a:tcPr>
                </a:tc>
              </a:tr>
              <a:tr h="619125">
                <a:tc>
                  <a:txBody>
                    <a:bodyPr/>
                    <a:lstStyle/>
                    <a:p>
                      <a:r>
                        <a:rPr sz="1875" b="0">
                          <a:solidFill>
                            <a:srgbClr val="182D42"/>
                          </a:solidFill>
                          <a:latin typeface="Arial"/>
                          <a:ea typeface="Arial"/>
                          <a:cs typeface="Arial"/>
                        </a:rPr>
                        <a:t>Classifier</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Shrinkage LDA, analytic shrinkage</a:t>
                      </a:r>
                    </a:p>
                  </a:txBody>
                  <a:tcPr marL="91440" marR="91440" marT="45720" marB="45720">
                    <a:lnR w="9525">
                      <a:solidFill>
                        <a:srgbClr val="D6E0E7"/>
                      </a:solidFill>
                      <a:prstDash val="solid"/>
                    </a:lnR>
                    <a:lnB w="9525">
                      <a:solidFill>
                        <a:srgbClr val="D6E0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C69F69F-6028-4F45-AD93-D048EA321381}"/>
              </a:ext>
            </a:extLst>
          </p:cNvPr>
          <p:cNvSpPr>
            <a:spLocks xmlns:a="http://schemas.openxmlformats.org/drawingml/2006/main" noGrp="1"/>
          </p:cNvSpPr>
          <p:nvPr/>
        </p:nvSpPr>
        <p:spPr>
          <a:xfrm xmlns:a="http://schemas.openxmlformats.org/drawingml/2006/main">
            <a:off x="571500" y="576262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16A93"/>
                </a:solidFill>
                <a:latin typeface="Arial"/>
                <a:ea typeface="Arial"/>
                <a:cs typeface="Arial"/>
              </a:defRPr>
            </a:defPPr>
            <a:lvl1pPr>
              <a:defRPr sz="2100" b="1">
                <a:solidFill>
                  <a:srgbClr val="216A93"/>
                </a:solidFill>
                <a:latin typeface="Arial"/>
                <a:ea typeface="Arial"/>
                <a:cs typeface="Arial"/>
              </a:defRPr>
            </a:lvl1pPr>
            <a:lvl2pPr>
              <a:defRPr sz="2100" b="1">
                <a:solidFill>
                  <a:srgbClr val="216A93"/>
                </a:solidFill>
                <a:latin typeface="Arial"/>
                <a:ea typeface="Arial"/>
                <a:cs typeface="Arial"/>
              </a:defRPr>
            </a:lvl2pPr>
            <a:lvl3pPr>
              <a:defRPr sz="2100" b="1">
                <a:solidFill>
                  <a:srgbClr val="216A93"/>
                </a:solidFill>
                <a:latin typeface="Arial"/>
                <a:ea typeface="Arial"/>
                <a:cs typeface="Arial"/>
              </a:defRPr>
            </a:lvl3pPr>
            <a:lvl4pPr>
              <a:defRPr sz="2100" b="1">
                <a:solidFill>
                  <a:srgbClr val="216A93"/>
                </a:solidFill>
                <a:latin typeface="Arial"/>
                <a:ea typeface="Arial"/>
                <a:cs typeface="Arial"/>
              </a:defRPr>
            </a:lvl4pPr>
            <a:lvl5pPr>
              <a:defRPr sz="2100" b="1">
                <a:solidFill>
                  <a:srgbClr val="216A93"/>
                </a:solidFill>
                <a:latin typeface="Arial"/>
                <a:ea typeface="Arial"/>
                <a:cs typeface="Arial"/>
              </a:defRPr>
            </a:lvl5pPr>
            <a:lvl6pPr>
              <a:defRPr sz="2100" b="1">
                <a:solidFill>
                  <a:srgbClr val="216A93"/>
                </a:solidFill>
                <a:latin typeface="Arial"/>
                <a:ea typeface="Arial"/>
                <a:cs typeface="Arial"/>
              </a:defRPr>
            </a:lvl6pPr>
            <a:lvl7pPr>
              <a:defRPr sz="2100" b="1">
                <a:solidFill>
                  <a:srgbClr val="216A93"/>
                </a:solidFill>
                <a:latin typeface="Arial"/>
                <a:ea typeface="Arial"/>
                <a:cs typeface="Arial"/>
              </a:defRPr>
            </a:lvl7pPr>
            <a:lvl8pPr>
              <a:defRPr sz="2100" b="1">
                <a:solidFill>
                  <a:srgbClr val="216A93"/>
                </a:solidFill>
                <a:latin typeface="Arial"/>
                <a:ea typeface="Arial"/>
                <a:cs typeface="Arial"/>
              </a:defRPr>
            </a:lvl8pPr>
            <a:lvl9pPr>
              <a:defRPr sz="2100" b="1">
                <a:solidFill>
                  <a:srgbClr val="216A93"/>
                </a:solidFill>
                <a:latin typeface="Arial"/>
                <a:ea typeface="Arial"/>
                <a:cs typeface="Arial"/>
              </a:defRPr>
            </a:lvl9pPr>
          </a:lstStyle>
          <a:p xmlns:a="http://schemas.openxmlformats.org/drawingml/2006/main">
            <a:pPr>
              <a:defRPr sz="2100" b="1">
                <a:solidFill>
                  <a:srgbClr val="216A93"/>
                </a:solidFill>
                <a:latin typeface="Arial"/>
                <a:ea typeface="Arial"/>
                <a:cs typeface="Arial"/>
              </a:defRPr>
            </a:pPr>
            <a:r>
              <a:rPr sz="2100" b="1">
                <a:solidFill>
                  <a:srgbClr val="216A93"/>
                </a:solidFill>
                <a:latin typeface="Arial"/>
                <a:ea typeface="Arial"/>
                <a:cs typeface="Arial"/>
              </a:rPr>
              <a:t>No pooled bad-channel flags shape training features</a:t>
            </a:r>
          </a:p>
        </p:txBody>
      </p:sp>
    </p:spTree>
    <p:extLst>
      <p:ext uri="{BB962C8B-B14F-4D97-AF65-F5344CB8AC3E}">
        <p14:creationId xmlns:p14="http://schemas.microsoft.com/office/powerpoint/2010/main" val="13826818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FA9ABBC-9F19-41B4-9D81-B623C866DA04}"/>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Evaluation on the same held-out epochs</a:t>
            </a:r>
          </a:p>
        </p:txBody>
      </p:sp>
      <p:sp>
        <p:nvSpPr>
          <p:cNvPr id="3" name="">
            <a:extLst xmlns:a="http://schemas.openxmlformats.org/drawingml/2006/main">
              <a:ext uri="{FF2B5EF4-FFF2-40B4-BE49-F238E27FC236}">
                <a16:creationId xmlns:a16="http://schemas.microsoft.com/office/drawing/2014/main" id="{FC02A3A1-C48D-4890-A4D5-6E1BB8C7B92A}"/>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8</a:t>
            </a:r>
          </a:p>
        </p:txBody>
      </p:sp>
      <p:graphicFrame>
        <p:nvGraphicFramePr>
          <p:cNvPr id="4" name="">
            <a:extLst xmlns:a="http://schemas.openxmlformats.org/drawingml/2006/main">
              <a:ext uri="{FF2B5EF4-FFF2-40B4-BE49-F238E27FC236}">
                <a16:creationId xmlns:a16="http://schemas.microsoft.com/office/drawing/2014/main" id="{9F398DE0-E41B-4069-A790-E7F35FC431F4}"/>
              </a:ext>
            </a:extLst>
          </p:cNvPr>
          <p:cNvGraphicFramePr/>
          <p:nvPr/>
        </p:nvGraphicFramePr>
        <p:xfrm>
          <a:off xmlns:a="http://schemas.openxmlformats.org/drawingml/2006/main" x="571500" y="1524000"/>
          <a:ext xmlns:a="http://schemas.openxmlformats.org/drawingml/2006/main" cx="11049000" cy="2952750"/>
        </p:xfrm>
        <a:graphic xmlns:a="http://schemas.openxmlformats.org/drawingml/2006/main">
          <a:graphicData uri="http://schemas.openxmlformats.org/drawingml/2006/table">
            <a:tbl>
              <a:tblPr/>
              <a:tblGrid>
                <a:gridCol w="2333625"/>
                <a:gridCol w="5715000"/>
                <a:gridCol w="3000375"/>
              </a:tblGrid>
              <a:tr h="738188">
                <a:tc>
                  <a:txBody>
                    <a:bodyPr/>
                    <a:lstStyle/>
                    <a:p>
                      <a:r>
                        <a:rPr sz="1875" b="1">
                          <a:solidFill>
                            <a:srgbClr val="FFFFFF"/>
                          </a:solidFill>
                          <a:latin typeface="Arial"/>
                          <a:ea typeface="Arial"/>
                          <a:cs typeface="Arial"/>
                        </a:rPr>
                        <a:t>Condition</a:t>
                      </a:r>
                    </a:p>
                  </a:txBody>
                  <a:tcPr marL="91440" marR="91440" marT="45720" marB="45720">
                    <a:lnL w="9525">
                      <a:solidFill>
                        <a:srgbClr val="D6E0E7"/>
                      </a:solidFill>
                      <a:prstDash val="solid"/>
                    </a:lnL>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Training data</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Test data</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r>
              <a:tr h="738188">
                <a:tc>
                  <a:txBody>
                    <a:bodyPr/>
                    <a:lstStyle/>
                    <a:p>
                      <a:r>
                        <a:rPr sz="1875" b="0">
                          <a:solidFill>
                            <a:srgbClr val="182D42"/>
                          </a:solidFill>
                          <a:latin typeface="Arial"/>
                          <a:ea typeface="Arial"/>
                          <a:cs typeface="Arial"/>
                        </a:rPr>
                        <a:t>Within</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Subject’s other run</a:t>
                      </a:r>
                    </a:p>
                  </a:txBody>
                  <a:tcPr marL="91440" marR="91440" marT="45720" marB="45720">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Same held-out run</a:t>
                      </a:r>
                    </a:p>
                  </a:txBody>
                  <a:tcPr marL="91440" marR="91440" marT="45720" marB="45720">
                    <a:lnR w="9525">
                      <a:solidFill>
                        <a:srgbClr val="D6E0E7"/>
                      </a:solidFill>
                      <a:prstDash val="solid"/>
                    </a:lnR>
                    <a:lnB w="9525">
                      <a:solidFill>
                        <a:srgbClr val="D6E0E7"/>
                      </a:solidFill>
                      <a:prstDash val="solid"/>
                    </a:lnB>
                    <a:solidFill>
                      <a:srgbClr val="FFFFFF"/>
                    </a:solidFill>
                  </a:tcPr>
                </a:tc>
              </a:tr>
              <a:tr h="738188">
                <a:tc>
                  <a:txBody>
                    <a:bodyPr/>
                    <a:lstStyle/>
                    <a:p>
                      <a:r>
                        <a:rPr sz="1875" b="0">
                          <a:solidFill>
                            <a:srgbClr val="182D42"/>
                          </a:solidFill>
                          <a:latin typeface="Arial"/>
                          <a:ea typeface="Arial"/>
                          <a:cs typeface="Arial"/>
                        </a:rPr>
                        <a:t>LOSO-matched</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Other users, matched class counts</a:t>
                      </a:r>
                    </a:p>
                  </a:txBody>
                  <a:tcPr marL="91440" marR="91440" marT="45720" marB="45720">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Same held-out run</a:t>
                      </a:r>
                    </a:p>
                  </a:txBody>
                  <a:tcPr marL="91440" marR="91440" marT="45720" marB="45720">
                    <a:lnR w="9525">
                      <a:solidFill>
                        <a:srgbClr val="D6E0E7"/>
                      </a:solidFill>
                      <a:prstDash val="solid"/>
                    </a:lnR>
                    <a:lnB w="9525">
                      <a:solidFill>
                        <a:srgbClr val="D6E0E7"/>
                      </a:solidFill>
                      <a:prstDash val="solid"/>
                    </a:lnB>
                    <a:solidFill>
                      <a:srgbClr val="FFFFFF"/>
                    </a:solidFill>
                  </a:tcPr>
                </a:tc>
              </a:tr>
              <a:tr h="738188">
                <a:tc>
                  <a:txBody>
                    <a:bodyPr/>
                    <a:lstStyle/>
                    <a:p>
                      <a:r>
                        <a:rPr sz="1875" b="0">
                          <a:solidFill>
                            <a:srgbClr val="182D42"/>
                          </a:solidFill>
                          <a:latin typeface="Arial"/>
                          <a:ea typeface="Arial"/>
                          <a:cs typeface="Arial"/>
                        </a:rPr>
                        <a:t>LOSO</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All runs of the other 16 users</a:t>
                      </a:r>
                    </a:p>
                  </a:txBody>
                  <a:tcPr marL="91440" marR="91440" marT="45720" marB="45720">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Same held-out run</a:t>
                      </a:r>
                    </a:p>
                  </a:txBody>
                  <a:tcPr marL="91440" marR="91440" marT="45720" marB="45720">
                    <a:lnR w="9525">
                      <a:solidFill>
                        <a:srgbClr val="D6E0E7"/>
                      </a:solidFill>
                      <a:prstDash val="solid"/>
                    </a:lnR>
                    <a:lnB w="9525">
                      <a:solidFill>
                        <a:srgbClr val="D6E0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E661432-7D4C-48F7-A2B3-2AA7BFBAB14B}"/>
              </a:ext>
            </a:extLst>
          </p:cNvPr>
          <p:cNvSpPr>
            <a:spLocks xmlns:a="http://schemas.openxmlformats.org/drawingml/2006/main" noGrp="1"/>
          </p:cNvSpPr>
          <p:nvPr/>
        </p:nvSpPr>
        <p:spPr>
          <a:xfrm xmlns:a="http://schemas.openxmlformats.org/drawingml/2006/main">
            <a:off x="571500" y="5048250"/>
            <a:ext cx="1095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2D42"/>
                </a:solidFill>
                <a:latin typeface="Arial"/>
                <a:ea typeface="Arial"/>
                <a:cs typeface="Arial"/>
              </a:defRPr>
            </a:defPPr>
            <a:lvl1pPr>
              <a:defRPr sz="2100" b="0">
                <a:solidFill>
                  <a:srgbClr val="182D42"/>
                </a:solidFill>
                <a:latin typeface="Arial"/>
                <a:ea typeface="Arial"/>
                <a:cs typeface="Arial"/>
              </a:defRPr>
            </a:lvl1pPr>
            <a:lvl2pPr>
              <a:defRPr sz="2100" b="0">
                <a:solidFill>
                  <a:srgbClr val="182D42"/>
                </a:solidFill>
                <a:latin typeface="Arial"/>
                <a:ea typeface="Arial"/>
                <a:cs typeface="Arial"/>
              </a:defRPr>
            </a:lvl2pPr>
            <a:lvl3pPr>
              <a:defRPr sz="2100" b="0">
                <a:solidFill>
                  <a:srgbClr val="182D42"/>
                </a:solidFill>
                <a:latin typeface="Arial"/>
                <a:ea typeface="Arial"/>
                <a:cs typeface="Arial"/>
              </a:defRPr>
            </a:lvl3pPr>
            <a:lvl4pPr>
              <a:defRPr sz="2100" b="0">
                <a:solidFill>
                  <a:srgbClr val="182D42"/>
                </a:solidFill>
                <a:latin typeface="Arial"/>
                <a:ea typeface="Arial"/>
                <a:cs typeface="Arial"/>
              </a:defRPr>
            </a:lvl4pPr>
            <a:lvl5pPr>
              <a:defRPr sz="2100" b="0">
                <a:solidFill>
                  <a:srgbClr val="182D42"/>
                </a:solidFill>
                <a:latin typeface="Arial"/>
                <a:ea typeface="Arial"/>
                <a:cs typeface="Arial"/>
              </a:defRPr>
            </a:lvl5pPr>
            <a:lvl6pPr>
              <a:defRPr sz="2100" b="0">
                <a:solidFill>
                  <a:srgbClr val="182D42"/>
                </a:solidFill>
                <a:latin typeface="Arial"/>
                <a:ea typeface="Arial"/>
                <a:cs typeface="Arial"/>
              </a:defRPr>
            </a:lvl6pPr>
            <a:lvl7pPr>
              <a:defRPr sz="2100" b="0">
                <a:solidFill>
                  <a:srgbClr val="182D42"/>
                </a:solidFill>
                <a:latin typeface="Arial"/>
                <a:ea typeface="Arial"/>
                <a:cs typeface="Arial"/>
              </a:defRPr>
            </a:lvl7pPr>
            <a:lvl8pPr>
              <a:defRPr sz="2100" b="0">
                <a:solidFill>
                  <a:srgbClr val="182D42"/>
                </a:solidFill>
                <a:latin typeface="Arial"/>
                <a:ea typeface="Arial"/>
                <a:cs typeface="Arial"/>
              </a:defRPr>
            </a:lvl8pPr>
            <a:lvl9pPr>
              <a:defRPr sz="2100" b="0">
                <a:solidFill>
                  <a:srgbClr val="182D42"/>
                </a:solidFill>
                <a:latin typeface="Arial"/>
                <a:ea typeface="Arial"/>
                <a:cs typeface="Arial"/>
              </a:defRPr>
            </a:lvl9pPr>
          </a:lstStyle>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Run groups for Within. Entire subjects held out for transfer.</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Chance AUC = 0.5. One mean over two test runs per subject.</a:t>
            </a:r>
          </a:p>
        </p:txBody>
      </p:sp>
    </p:spTree>
    <p:extLst>
      <p:ext uri="{BB962C8B-B14F-4D97-AF65-F5344CB8AC3E}">
        <p14:creationId xmlns:p14="http://schemas.microsoft.com/office/powerpoint/2010/main" val="8430291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2F2C39B-9C02-4B1B-9651-1149D105262F}"/>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Mean AUC across subjects</a:t>
            </a:r>
          </a:p>
        </p:txBody>
      </p:sp>
      <p:sp>
        <p:nvSpPr>
          <p:cNvPr id="3" name="">
            <a:extLst xmlns:a="http://schemas.openxmlformats.org/drawingml/2006/main">
              <a:ext uri="{FF2B5EF4-FFF2-40B4-BE49-F238E27FC236}">
                <a16:creationId xmlns:a16="http://schemas.microsoft.com/office/drawing/2014/main" id="{50F9D4C0-5C74-4763-A751-54A21A81D2EC}"/>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9</a:t>
            </a:r>
          </a:p>
        </p:txBody>
      </p:sp>
      <p:graphicFrame>
        <p:nvGraphicFramePr>
          <p:cNvPr id="4" name="Chart">
            <a:extLst xmlns:a="http://schemas.openxmlformats.org/drawingml/2006/main">
              <a:ext uri="{FF2B5EF4-FFF2-40B4-BE49-F238E27FC236}">
                <a16:creationId xmlns:a16="http://schemas.microsoft.com/office/drawing/2014/main" id="{D9678AFD-FF48-40F9-B9B7-B91CCDD624A7}"/>
              </a:ext>
            </a:extLst>
          </p:cNvPr>
          <p:cNvGraphicFramePr/>
          <p:nvPr/>
        </p:nvGraphicFramePr>
        <p:xfrm>
          <a:off xmlns:a="http://schemas.openxmlformats.org/drawingml/2006/main" x="571500" y="1428750"/>
          <a:ext xmlns:a="http://schemas.openxmlformats.org/drawingml/2006/main" cx="8001000" cy="4286250"/>
        </p:xfrm>
        <a:graphic xmlns:a="http://schemas.openxmlformats.org/drawingml/2006/main">
          <a:graphicData uri="http://schemas.openxmlformats.org/drawingml/2006/chart">
            <c:chart xmlns:r="http://schemas.openxmlformats.org/officeDocument/2006/relationships" xmlns:c="http://schemas.openxmlformats.org/drawingml/2006/chart" r:id="Red593b0205e3456d"/>
          </a:graphicData>
        </a:graphic>
      </p:graphicFrame>
      <p:sp>
        <p:nvSpPr>
          <p:cNvPr id="5" name="">
            <a:extLst xmlns:a="http://schemas.openxmlformats.org/drawingml/2006/main">
              <a:ext uri="{FF2B5EF4-FFF2-40B4-BE49-F238E27FC236}">
                <a16:creationId xmlns:a16="http://schemas.microsoft.com/office/drawing/2014/main" id="{CA1CB00C-1FB6-4266-AA78-A688E2FDC8AF}"/>
              </a:ext>
            </a:extLst>
          </p:cNvPr>
          <p:cNvSpPr>
            <a:spLocks xmlns:a="http://schemas.openxmlformats.org/drawingml/2006/main" noGrp="1"/>
          </p:cNvSpPr>
          <p:nvPr/>
        </p:nvSpPr>
        <p:spPr>
          <a:xfrm xmlns:a="http://schemas.openxmlformats.org/drawingml/2006/main">
            <a:off x="8953500" y="15716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506477"/>
                </a:solidFill>
                <a:latin typeface="Arial"/>
                <a:ea typeface="Arial"/>
                <a:cs typeface="Arial"/>
              </a:defRPr>
            </a:defPPr>
            <a:lvl1pPr>
              <a:defRPr sz="2025" b="1">
                <a:solidFill>
                  <a:srgbClr val="506477"/>
                </a:solidFill>
                <a:latin typeface="Arial"/>
                <a:ea typeface="Arial"/>
                <a:cs typeface="Arial"/>
              </a:defRPr>
            </a:lvl1pPr>
            <a:lvl2pPr>
              <a:defRPr sz="2025" b="1">
                <a:solidFill>
                  <a:srgbClr val="506477"/>
                </a:solidFill>
                <a:latin typeface="Arial"/>
                <a:ea typeface="Arial"/>
                <a:cs typeface="Arial"/>
              </a:defRPr>
            </a:lvl2pPr>
            <a:lvl3pPr>
              <a:defRPr sz="2025" b="1">
                <a:solidFill>
                  <a:srgbClr val="506477"/>
                </a:solidFill>
                <a:latin typeface="Arial"/>
                <a:ea typeface="Arial"/>
                <a:cs typeface="Arial"/>
              </a:defRPr>
            </a:lvl3pPr>
            <a:lvl4pPr>
              <a:defRPr sz="2025" b="1">
                <a:solidFill>
                  <a:srgbClr val="506477"/>
                </a:solidFill>
                <a:latin typeface="Arial"/>
                <a:ea typeface="Arial"/>
                <a:cs typeface="Arial"/>
              </a:defRPr>
            </a:lvl4pPr>
            <a:lvl5pPr>
              <a:defRPr sz="2025" b="1">
                <a:solidFill>
                  <a:srgbClr val="506477"/>
                </a:solidFill>
                <a:latin typeface="Arial"/>
                <a:ea typeface="Arial"/>
                <a:cs typeface="Arial"/>
              </a:defRPr>
            </a:lvl5pPr>
            <a:lvl6pPr>
              <a:defRPr sz="2025" b="1">
                <a:solidFill>
                  <a:srgbClr val="506477"/>
                </a:solidFill>
                <a:latin typeface="Arial"/>
                <a:ea typeface="Arial"/>
                <a:cs typeface="Arial"/>
              </a:defRPr>
            </a:lvl6pPr>
            <a:lvl7pPr>
              <a:defRPr sz="2025" b="1">
                <a:solidFill>
                  <a:srgbClr val="506477"/>
                </a:solidFill>
                <a:latin typeface="Arial"/>
                <a:ea typeface="Arial"/>
                <a:cs typeface="Arial"/>
              </a:defRPr>
            </a:lvl7pPr>
            <a:lvl8pPr>
              <a:defRPr sz="2025" b="1">
                <a:solidFill>
                  <a:srgbClr val="506477"/>
                </a:solidFill>
                <a:latin typeface="Arial"/>
                <a:ea typeface="Arial"/>
                <a:cs typeface="Arial"/>
              </a:defRPr>
            </a:lvl8pPr>
            <a:lvl9pPr>
              <a:defRPr sz="2025" b="1">
                <a:solidFill>
                  <a:srgbClr val="506477"/>
                </a:solidFill>
                <a:latin typeface="Arial"/>
                <a:ea typeface="Arial"/>
                <a:cs typeface="Arial"/>
              </a:defRPr>
            </a:lvl9pPr>
          </a:lstStyle>
          <a:p xmlns:a="http://schemas.openxmlformats.org/drawingml/2006/main">
            <a:pPr>
              <a:defRPr sz="2025" b="1">
                <a:solidFill>
                  <a:srgbClr val="506477"/>
                </a:solidFill>
                <a:latin typeface="Arial"/>
                <a:ea typeface="Arial"/>
                <a:cs typeface="Arial"/>
              </a:defRPr>
            </a:pPr>
            <a:r>
              <a:rPr sz="2025" b="1">
                <a:solidFill>
                  <a:srgbClr val="506477"/>
                </a:solidFill>
                <a:latin typeface="Arial"/>
                <a:ea typeface="Arial"/>
                <a:cs typeface="Arial"/>
              </a:rPr>
              <a:t>Mean ± SD</a:t>
            </a:r>
          </a:p>
        </p:txBody>
      </p:sp>
      <p:sp>
        <p:nvSpPr>
          <p:cNvPr id="6" name="">
            <a:extLst xmlns:a="http://schemas.openxmlformats.org/drawingml/2006/main">
              <a:ext uri="{FF2B5EF4-FFF2-40B4-BE49-F238E27FC236}">
                <a16:creationId xmlns:a16="http://schemas.microsoft.com/office/drawing/2014/main" id="{B698FC66-C34C-4117-912F-19E937EA53B7}"/>
              </a:ext>
            </a:extLst>
          </p:cNvPr>
          <p:cNvSpPr>
            <a:spLocks xmlns:a="http://schemas.openxmlformats.org/drawingml/2006/main" noGrp="1"/>
          </p:cNvSpPr>
          <p:nvPr/>
        </p:nvSpPr>
        <p:spPr>
          <a:xfrm xmlns:a="http://schemas.openxmlformats.org/drawingml/2006/main">
            <a:off x="8953500" y="2286000"/>
            <a:ext cx="266700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2D42"/>
                </a:solidFill>
                <a:latin typeface="Arial"/>
                <a:ea typeface="Arial"/>
                <a:cs typeface="Arial"/>
              </a:defRPr>
            </a:defPPr>
            <a:lvl1pPr>
              <a:defRPr sz="2100" b="0">
                <a:solidFill>
                  <a:srgbClr val="182D42"/>
                </a:solidFill>
                <a:latin typeface="Arial"/>
                <a:ea typeface="Arial"/>
                <a:cs typeface="Arial"/>
              </a:defRPr>
            </a:lvl1pPr>
            <a:lvl2pPr>
              <a:defRPr sz="2100" b="0">
                <a:solidFill>
                  <a:srgbClr val="182D42"/>
                </a:solidFill>
                <a:latin typeface="Arial"/>
                <a:ea typeface="Arial"/>
                <a:cs typeface="Arial"/>
              </a:defRPr>
            </a:lvl2pPr>
            <a:lvl3pPr>
              <a:defRPr sz="2100" b="0">
                <a:solidFill>
                  <a:srgbClr val="182D42"/>
                </a:solidFill>
                <a:latin typeface="Arial"/>
                <a:ea typeface="Arial"/>
                <a:cs typeface="Arial"/>
              </a:defRPr>
            </a:lvl3pPr>
            <a:lvl4pPr>
              <a:defRPr sz="2100" b="0">
                <a:solidFill>
                  <a:srgbClr val="182D42"/>
                </a:solidFill>
                <a:latin typeface="Arial"/>
                <a:ea typeface="Arial"/>
                <a:cs typeface="Arial"/>
              </a:defRPr>
            </a:lvl4pPr>
            <a:lvl5pPr>
              <a:defRPr sz="2100" b="0">
                <a:solidFill>
                  <a:srgbClr val="182D42"/>
                </a:solidFill>
                <a:latin typeface="Arial"/>
                <a:ea typeface="Arial"/>
                <a:cs typeface="Arial"/>
              </a:defRPr>
            </a:lvl5pPr>
            <a:lvl6pPr>
              <a:defRPr sz="2100" b="0">
                <a:solidFill>
                  <a:srgbClr val="182D42"/>
                </a:solidFill>
                <a:latin typeface="Arial"/>
                <a:ea typeface="Arial"/>
                <a:cs typeface="Arial"/>
              </a:defRPr>
            </a:lvl6pPr>
            <a:lvl7pPr>
              <a:defRPr sz="2100" b="0">
                <a:solidFill>
                  <a:srgbClr val="182D42"/>
                </a:solidFill>
                <a:latin typeface="Arial"/>
                <a:ea typeface="Arial"/>
                <a:cs typeface="Arial"/>
              </a:defRPr>
            </a:lvl7pPr>
            <a:lvl8pPr>
              <a:defRPr sz="2100" b="0">
                <a:solidFill>
                  <a:srgbClr val="182D42"/>
                </a:solidFill>
                <a:latin typeface="Arial"/>
                <a:ea typeface="Arial"/>
                <a:cs typeface="Arial"/>
              </a:defRPr>
            </a:lvl8pPr>
            <a:lvl9pPr>
              <a:defRPr sz="2100" b="0">
                <a:solidFill>
                  <a:srgbClr val="182D42"/>
                </a:solidFill>
                <a:latin typeface="Arial"/>
                <a:ea typeface="Arial"/>
                <a:cs typeface="Arial"/>
              </a:defRPr>
            </a:lvl9pPr>
          </a:lstStyle>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Within</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0.875 ± 0.056</a:t>
            </a:r>
          </a:p>
          <a:p xmlns:a="http://schemas.openxmlformats.org/drawingml/2006/main">
            <a:r>
              <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Matched</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0.724 ± 0.071</a:t>
            </a:r>
          </a:p>
          <a:p xmlns:a="http://schemas.openxmlformats.org/drawingml/2006/main">
            <a:r>
              <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LOSO</a:t>
            </a:r>
          </a:p>
          <a:p xmlns:a="http://schemas.openxmlformats.org/drawingml/2006/main">
            <a:pPr>
              <a:defRPr sz="2100" b="0">
                <a:solidFill>
                  <a:srgbClr val="182D42"/>
                </a:solidFill>
                <a:latin typeface="Arial"/>
                <a:ea typeface="Arial"/>
                <a:cs typeface="Arial"/>
              </a:defRPr>
            </a:pPr>
            <a:r>
              <a:rPr sz="2100" b="0">
                <a:solidFill>
                  <a:srgbClr val="182D42"/>
                </a:solidFill>
                <a:latin typeface="Arial"/>
                <a:ea typeface="Arial"/>
                <a:cs typeface="Arial"/>
              </a:rPr>
              <a:t>0.810 ± 0.072</a:t>
            </a:r>
          </a:p>
        </p:txBody>
      </p:sp>
    </p:spTree>
    <p:extLst>
      <p:ext uri="{BB962C8B-B14F-4D97-AF65-F5344CB8AC3E}">
        <p14:creationId xmlns:p14="http://schemas.microsoft.com/office/powerpoint/2010/main" val="17743977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F173B3F-C477-4E62-BF06-2694A3008400}"/>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Individual transfer performance</a:t>
            </a:r>
          </a:p>
        </p:txBody>
      </p:sp>
      <p:sp>
        <p:nvSpPr>
          <p:cNvPr id="3" name="">
            <a:extLst xmlns:a="http://schemas.openxmlformats.org/drawingml/2006/main">
              <a:ext uri="{FF2B5EF4-FFF2-40B4-BE49-F238E27FC236}">
                <a16:creationId xmlns:a16="http://schemas.microsoft.com/office/drawing/2014/main" id="{F75C23DD-23CC-41C4-9E30-DD54327DF8D9}"/>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10</a:t>
            </a:r>
          </a:p>
        </p:txBody>
      </p:sp>
      <p:graphicFrame>
        <p:nvGraphicFramePr>
          <p:cNvPr id="4" name="Chart">
            <a:extLst xmlns:a="http://schemas.openxmlformats.org/drawingml/2006/main">
              <a:ext uri="{FF2B5EF4-FFF2-40B4-BE49-F238E27FC236}">
                <a16:creationId xmlns:a16="http://schemas.microsoft.com/office/drawing/2014/main" id="{2D1E5622-9569-4426-A80D-8B435B4CEDFF}"/>
              </a:ext>
            </a:extLst>
          </p:cNvPr>
          <p:cNvGraphicFramePr/>
          <p:nvPr/>
        </p:nvGraphicFramePr>
        <p:xfrm>
          <a:off xmlns:a="http://schemas.openxmlformats.org/drawingml/2006/main" x="571500" y="1428750"/>
          <a:ext xmlns:a="http://schemas.openxmlformats.org/drawingml/2006/main" cx="10858500" cy="4000500"/>
        </p:xfrm>
        <a:graphic xmlns:a="http://schemas.openxmlformats.org/drawingml/2006/main">
          <a:graphicData uri="http://schemas.openxmlformats.org/drawingml/2006/chart">
            <c:chart xmlns:r="http://schemas.openxmlformats.org/officeDocument/2006/relationships" xmlns:c="http://schemas.openxmlformats.org/drawingml/2006/chart" r:id="Rd9849299d9d8417b"/>
          </a:graphicData>
        </a:graphic>
      </p:graphicFrame>
      <p:sp>
        <p:nvSpPr>
          <p:cNvPr id="5" name="">
            <a:extLst xmlns:a="http://schemas.openxmlformats.org/drawingml/2006/main">
              <a:ext uri="{FF2B5EF4-FFF2-40B4-BE49-F238E27FC236}">
                <a16:creationId xmlns:a16="http://schemas.microsoft.com/office/drawing/2014/main" id="{D48F8738-00BC-4A58-8295-1EBCB4C61DD8}"/>
              </a:ext>
            </a:extLst>
          </p:cNvPr>
          <p:cNvSpPr>
            <a:spLocks xmlns:a="http://schemas.openxmlformats.org/drawingml/2006/main" noGrp="1"/>
          </p:cNvSpPr>
          <p:nvPr/>
        </p:nvSpPr>
        <p:spPr>
          <a:xfrm xmlns:a="http://schemas.openxmlformats.org/drawingml/2006/main">
            <a:off x="571500" y="58102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2D42"/>
                </a:solidFill>
                <a:latin typeface="Arial"/>
                <a:ea typeface="Arial"/>
                <a:cs typeface="Arial"/>
              </a:defRPr>
            </a:defPPr>
            <a:lvl1pPr>
              <a:defRPr sz="2025" b="0">
                <a:solidFill>
                  <a:srgbClr val="182D42"/>
                </a:solidFill>
                <a:latin typeface="Arial"/>
                <a:ea typeface="Arial"/>
                <a:cs typeface="Arial"/>
              </a:defRPr>
            </a:lvl1pPr>
            <a:lvl2pPr>
              <a:defRPr sz="2025" b="0">
                <a:solidFill>
                  <a:srgbClr val="182D42"/>
                </a:solidFill>
                <a:latin typeface="Arial"/>
                <a:ea typeface="Arial"/>
                <a:cs typeface="Arial"/>
              </a:defRPr>
            </a:lvl2pPr>
            <a:lvl3pPr>
              <a:defRPr sz="2025" b="0">
                <a:solidFill>
                  <a:srgbClr val="182D42"/>
                </a:solidFill>
                <a:latin typeface="Arial"/>
                <a:ea typeface="Arial"/>
                <a:cs typeface="Arial"/>
              </a:defRPr>
            </a:lvl3pPr>
            <a:lvl4pPr>
              <a:defRPr sz="2025" b="0">
                <a:solidFill>
                  <a:srgbClr val="182D42"/>
                </a:solidFill>
                <a:latin typeface="Arial"/>
                <a:ea typeface="Arial"/>
                <a:cs typeface="Arial"/>
              </a:defRPr>
            </a:lvl4pPr>
            <a:lvl5pPr>
              <a:defRPr sz="2025" b="0">
                <a:solidFill>
                  <a:srgbClr val="182D42"/>
                </a:solidFill>
                <a:latin typeface="Arial"/>
                <a:ea typeface="Arial"/>
                <a:cs typeface="Arial"/>
              </a:defRPr>
            </a:lvl5pPr>
            <a:lvl6pPr>
              <a:defRPr sz="2025" b="0">
                <a:solidFill>
                  <a:srgbClr val="182D42"/>
                </a:solidFill>
                <a:latin typeface="Arial"/>
                <a:ea typeface="Arial"/>
                <a:cs typeface="Arial"/>
              </a:defRPr>
            </a:lvl6pPr>
            <a:lvl7pPr>
              <a:defRPr sz="2025" b="0">
                <a:solidFill>
                  <a:srgbClr val="182D42"/>
                </a:solidFill>
                <a:latin typeface="Arial"/>
                <a:ea typeface="Arial"/>
                <a:cs typeface="Arial"/>
              </a:defRPr>
            </a:lvl7pPr>
            <a:lvl8pPr>
              <a:defRPr sz="2025" b="0">
                <a:solidFill>
                  <a:srgbClr val="182D42"/>
                </a:solidFill>
                <a:latin typeface="Arial"/>
                <a:ea typeface="Arial"/>
                <a:cs typeface="Arial"/>
              </a:defRPr>
            </a:lvl8pPr>
            <a:lvl9pPr>
              <a:defRPr sz="2025" b="0">
                <a:solidFill>
                  <a:srgbClr val="182D42"/>
                </a:solidFill>
                <a:latin typeface="Arial"/>
                <a:ea typeface="Arial"/>
                <a:cs typeface="Arial"/>
              </a:defRPr>
            </a:lvl9pPr>
          </a:lstStyle>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Median Within–LOSO gap: 0.072    Median Within fold SD: 0.018</a:t>
            </a:r>
          </a:p>
        </p:txBody>
      </p:sp>
    </p:spTree>
    <p:extLst>
      <p:ext uri="{BB962C8B-B14F-4D97-AF65-F5344CB8AC3E}">
        <p14:creationId xmlns:p14="http://schemas.microsoft.com/office/powerpoint/2010/main" val="108922987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FCE4324-BAF6-4843-A234-6F5FB5D7C345}"/>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Paired hypothesis tests</a:t>
            </a:r>
          </a:p>
        </p:txBody>
      </p:sp>
      <p:sp>
        <p:nvSpPr>
          <p:cNvPr id="3" name="">
            <a:extLst xmlns:a="http://schemas.openxmlformats.org/drawingml/2006/main">
              <a:ext uri="{FF2B5EF4-FFF2-40B4-BE49-F238E27FC236}">
                <a16:creationId xmlns:a16="http://schemas.microsoft.com/office/drawing/2014/main" id="{94B4C628-0B1B-4580-B01A-CD2DDBF8C30D}"/>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207EEFFE-9DB9-41C9-9297-4DA40B02E8A9}"/>
              </a:ext>
            </a:extLst>
          </p:cNvPr>
          <p:cNvGraphicFramePr/>
          <p:nvPr/>
        </p:nvGraphicFramePr>
        <p:xfrm>
          <a:off xmlns:a="http://schemas.openxmlformats.org/drawingml/2006/main" x="571500" y="1524000"/>
          <a:ext xmlns:a="http://schemas.openxmlformats.org/drawingml/2006/main" cx="11049000" cy="2857500"/>
        </p:xfrm>
        <a:graphic xmlns:a="http://schemas.openxmlformats.org/drawingml/2006/main">
          <a:graphicData uri="http://schemas.openxmlformats.org/drawingml/2006/table">
            <a:tbl>
              <a:tblPr/>
              <a:tblGrid>
                <a:gridCol w="6191250"/>
                <a:gridCol w="2381250"/>
                <a:gridCol w="2476500"/>
              </a:tblGrid>
              <a:tr h="714375">
                <a:tc>
                  <a:txBody>
                    <a:bodyPr/>
                    <a:lstStyle/>
                    <a:p>
                      <a:r>
                        <a:rPr sz="1875" b="1">
                          <a:solidFill>
                            <a:srgbClr val="FFFFFF"/>
                          </a:solidFill>
                          <a:latin typeface="Arial"/>
                          <a:ea typeface="Arial"/>
                          <a:cs typeface="Arial"/>
                        </a:rPr>
                        <a:t>Hypothesis</a:t>
                      </a:r>
                    </a:p>
                  </a:txBody>
                  <a:tcPr marL="91440" marR="91440" marT="45720" marB="45720">
                    <a:lnL w="9525">
                      <a:solidFill>
                        <a:srgbClr val="D6E0E7"/>
                      </a:solidFill>
                      <a:prstDash val="solid"/>
                    </a:lnL>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Median gap</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Holm p</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r>
              <a:tr h="714375">
                <a:tc>
                  <a:txBody>
                    <a:bodyPr/>
                    <a:lstStyle/>
                    <a:p>
                      <a:r>
                        <a:rPr sz="1875" b="0">
                          <a:solidFill>
                            <a:srgbClr val="182D42"/>
                          </a:solidFill>
                          <a:latin typeface="Arial"/>
                          <a:ea typeface="Arial"/>
                          <a:cs typeface="Arial"/>
                        </a:rPr>
                        <a:t>H1 LOSO &gt; 0.5</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0.309</a:t>
                      </a:r>
                    </a:p>
                  </a:txBody>
                  <a:tcPr marL="91440" marR="91440" marT="45720" marB="45720">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2.29e-5</a:t>
                      </a:r>
                    </a:p>
                  </a:txBody>
                  <a:tcPr marL="91440" marR="91440" marT="45720" marB="45720">
                    <a:lnR w="9525">
                      <a:solidFill>
                        <a:srgbClr val="D6E0E7"/>
                      </a:solidFill>
                      <a:prstDash val="solid"/>
                    </a:lnR>
                    <a:lnB w="9525">
                      <a:solidFill>
                        <a:srgbClr val="D6E0E7"/>
                      </a:solidFill>
                      <a:prstDash val="solid"/>
                    </a:lnB>
                    <a:solidFill>
                      <a:srgbClr val="FFFFFF"/>
                    </a:solidFill>
                  </a:tcPr>
                </a:tc>
              </a:tr>
              <a:tr h="714375">
                <a:tc>
                  <a:txBody>
                    <a:bodyPr/>
                    <a:lstStyle/>
                    <a:p>
                      <a:r>
                        <a:rPr sz="1875" b="0">
                          <a:solidFill>
                            <a:srgbClr val="182D42"/>
                          </a:solidFill>
                          <a:latin typeface="Arial"/>
                          <a:ea typeface="Arial"/>
                          <a:cs typeface="Arial"/>
                        </a:rPr>
                        <a:t>H2 Within &gt; LOSO</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0.072</a:t>
                      </a:r>
                    </a:p>
                  </a:txBody>
                  <a:tcPr marL="91440" marR="91440" marT="45720" marB="45720">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1.91e-4</a:t>
                      </a:r>
                    </a:p>
                  </a:txBody>
                  <a:tcPr marL="91440" marR="91440" marT="45720" marB="45720">
                    <a:lnR w="9525">
                      <a:solidFill>
                        <a:srgbClr val="D6E0E7"/>
                      </a:solidFill>
                      <a:prstDash val="solid"/>
                    </a:lnR>
                    <a:lnB w="9525">
                      <a:solidFill>
                        <a:srgbClr val="D6E0E7"/>
                      </a:solidFill>
                      <a:prstDash val="solid"/>
                    </a:lnB>
                    <a:solidFill>
                      <a:srgbClr val="FFFFFF"/>
                    </a:solidFill>
                  </a:tcPr>
                </a:tc>
              </a:tr>
              <a:tr h="714375">
                <a:tc>
                  <a:txBody>
                    <a:bodyPr/>
                    <a:lstStyle/>
                    <a:p>
                      <a:r>
                        <a:rPr sz="1875" b="0">
                          <a:solidFill>
                            <a:srgbClr val="182D42"/>
                          </a:solidFill>
                          <a:latin typeface="Arial"/>
                          <a:ea typeface="Arial"/>
                          <a:cs typeface="Arial"/>
                        </a:rPr>
                        <a:t>H3 Within &gt; LOSO-matched</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0.142</a:t>
                      </a:r>
                    </a:p>
                  </a:txBody>
                  <a:tcPr marL="91440" marR="91440" marT="45720" marB="45720">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2.29e-5</a:t>
                      </a:r>
                    </a:p>
                  </a:txBody>
                  <a:tcPr marL="91440" marR="91440" marT="45720" marB="45720">
                    <a:lnR w="9525">
                      <a:solidFill>
                        <a:srgbClr val="D6E0E7"/>
                      </a:solidFill>
                      <a:prstDash val="solid"/>
                    </a:lnR>
                    <a:lnB w="9525">
                      <a:solidFill>
                        <a:srgbClr val="D6E0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DDB78D4-83FA-4DE6-B9FA-EFB83CD9DF0B}"/>
              </a:ext>
            </a:extLst>
          </p:cNvPr>
          <p:cNvSpPr>
            <a:spLocks xmlns:a="http://schemas.openxmlformats.org/drawingml/2006/main" noGrp="1"/>
          </p:cNvSpPr>
          <p:nvPr/>
        </p:nvSpPr>
        <p:spPr>
          <a:xfrm xmlns:a="http://schemas.openxmlformats.org/drawingml/2006/main">
            <a:off x="571500" y="5000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2D42"/>
                </a:solidFill>
                <a:latin typeface="Arial"/>
                <a:ea typeface="Arial"/>
                <a:cs typeface="Arial"/>
              </a:defRPr>
            </a:defPPr>
            <a:lvl1pPr>
              <a:defRPr sz="2025" b="0">
                <a:solidFill>
                  <a:srgbClr val="182D42"/>
                </a:solidFill>
                <a:latin typeface="Arial"/>
                <a:ea typeface="Arial"/>
                <a:cs typeface="Arial"/>
              </a:defRPr>
            </a:lvl1pPr>
            <a:lvl2pPr>
              <a:defRPr sz="2025" b="0">
                <a:solidFill>
                  <a:srgbClr val="182D42"/>
                </a:solidFill>
                <a:latin typeface="Arial"/>
                <a:ea typeface="Arial"/>
                <a:cs typeface="Arial"/>
              </a:defRPr>
            </a:lvl2pPr>
            <a:lvl3pPr>
              <a:defRPr sz="2025" b="0">
                <a:solidFill>
                  <a:srgbClr val="182D42"/>
                </a:solidFill>
                <a:latin typeface="Arial"/>
                <a:ea typeface="Arial"/>
                <a:cs typeface="Arial"/>
              </a:defRPr>
            </a:lvl3pPr>
            <a:lvl4pPr>
              <a:defRPr sz="2025" b="0">
                <a:solidFill>
                  <a:srgbClr val="182D42"/>
                </a:solidFill>
                <a:latin typeface="Arial"/>
                <a:ea typeface="Arial"/>
                <a:cs typeface="Arial"/>
              </a:defRPr>
            </a:lvl4pPr>
            <a:lvl5pPr>
              <a:defRPr sz="2025" b="0">
                <a:solidFill>
                  <a:srgbClr val="182D42"/>
                </a:solidFill>
                <a:latin typeface="Arial"/>
                <a:ea typeface="Arial"/>
                <a:cs typeface="Arial"/>
              </a:defRPr>
            </a:lvl5pPr>
            <a:lvl6pPr>
              <a:defRPr sz="2025" b="0">
                <a:solidFill>
                  <a:srgbClr val="182D42"/>
                </a:solidFill>
                <a:latin typeface="Arial"/>
                <a:ea typeface="Arial"/>
                <a:cs typeface="Arial"/>
              </a:defRPr>
            </a:lvl6pPr>
            <a:lvl7pPr>
              <a:defRPr sz="2025" b="0">
                <a:solidFill>
                  <a:srgbClr val="182D42"/>
                </a:solidFill>
                <a:latin typeface="Arial"/>
                <a:ea typeface="Arial"/>
                <a:cs typeface="Arial"/>
              </a:defRPr>
            </a:lvl7pPr>
            <a:lvl8pPr>
              <a:defRPr sz="2025" b="0">
                <a:solidFill>
                  <a:srgbClr val="182D42"/>
                </a:solidFill>
                <a:latin typeface="Arial"/>
                <a:ea typeface="Arial"/>
                <a:cs typeface="Arial"/>
              </a:defRPr>
            </a:lvl8pPr>
            <a:lvl9pPr>
              <a:defRPr sz="2025" b="0">
                <a:solidFill>
                  <a:srgbClr val="182D42"/>
                </a:solidFill>
                <a:latin typeface="Arial"/>
                <a:ea typeface="Arial"/>
                <a:cs typeface="Arial"/>
              </a:defRPr>
            </a:lvl9pPr>
          </a:lstStyle>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Pilot-excluded sensitivity: n = 14</a:t>
            </a:r>
          </a:p>
          <a:p xmlns:a="http://schemas.openxmlformats.org/drawingml/2006/main">
            <a:pPr>
              <a:defRPr sz="2025" b="0">
                <a:solidFill>
                  <a:srgbClr val="182D42"/>
                </a:solidFill>
                <a:latin typeface="Arial"/>
                <a:ea typeface="Arial"/>
                <a:cs typeface="Arial"/>
              </a:defRPr>
            </a:pPr>
            <a:r>
              <a:rPr sz="2025" b="0">
                <a:solidFill>
                  <a:srgbClr val="182D42"/>
                </a:solidFill>
                <a:latin typeface="Arial"/>
                <a:ea typeface="Arial"/>
                <a:cs typeface="Arial"/>
              </a:rPr>
              <a:t>Holm p for H1 / H2 / H3: 1.83e-4 / 3.05e-4 / 1.83e-4</a:t>
            </a:r>
          </a:p>
        </p:txBody>
      </p:sp>
    </p:spTree>
    <p:extLst>
      <p:ext uri="{BB962C8B-B14F-4D97-AF65-F5344CB8AC3E}">
        <p14:creationId xmlns:p14="http://schemas.microsoft.com/office/powerpoint/2010/main" val="205308278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AFB087B-1960-4D83-9860-82A43247FD84}"/>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Conclusion and limits</a:t>
            </a:r>
          </a:p>
        </p:txBody>
      </p:sp>
      <p:sp>
        <p:nvSpPr>
          <p:cNvPr id="3" name="">
            <a:extLst xmlns:a="http://schemas.openxmlformats.org/drawingml/2006/main">
              <a:ext uri="{FF2B5EF4-FFF2-40B4-BE49-F238E27FC236}">
                <a16:creationId xmlns:a16="http://schemas.microsoft.com/office/drawing/2014/main" id="{DC4D08FB-1515-4389-9FE7-0300A4FCEFFF}"/>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08FBEFFE-5F9B-4D6B-BF73-BD16FB40A870}"/>
              </a:ext>
            </a:extLst>
          </p:cNvPr>
          <p:cNvSpPr>
            <a:spLocks xmlns:a="http://schemas.openxmlformats.org/drawingml/2006/main" noGrp="1"/>
          </p:cNvSpPr>
          <p:nvPr/>
        </p:nvSpPr>
        <p:spPr>
          <a:xfrm xmlns:a="http://schemas.openxmlformats.org/drawingml/2006/main">
            <a:off x="571500" y="15240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216A93"/>
                </a:solidFill>
                <a:latin typeface="Arial"/>
                <a:ea typeface="Arial"/>
                <a:cs typeface="Arial"/>
              </a:defRPr>
            </a:defPPr>
            <a:lvl1pPr>
              <a:defRPr sz="2775" b="1">
                <a:solidFill>
                  <a:srgbClr val="216A93"/>
                </a:solidFill>
                <a:latin typeface="Arial"/>
                <a:ea typeface="Arial"/>
                <a:cs typeface="Arial"/>
              </a:defRPr>
            </a:lvl1pPr>
            <a:lvl2pPr>
              <a:defRPr sz="2775" b="1">
                <a:solidFill>
                  <a:srgbClr val="216A93"/>
                </a:solidFill>
                <a:latin typeface="Arial"/>
                <a:ea typeface="Arial"/>
                <a:cs typeface="Arial"/>
              </a:defRPr>
            </a:lvl2pPr>
            <a:lvl3pPr>
              <a:defRPr sz="2775" b="1">
                <a:solidFill>
                  <a:srgbClr val="216A93"/>
                </a:solidFill>
                <a:latin typeface="Arial"/>
                <a:ea typeface="Arial"/>
                <a:cs typeface="Arial"/>
              </a:defRPr>
            </a:lvl3pPr>
            <a:lvl4pPr>
              <a:defRPr sz="2775" b="1">
                <a:solidFill>
                  <a:srgbClr val="216A93"/>
                </a:solidFill>
                <a:latin typeface="Arial"/>
                <a:ea typeface="Arial"/>
                <a:cs typeface="Arial"/>
              </a:defRPr>
            </a:lvl4pPr>
            <a:lvl5pPr>
              <a:defRPr sz="2775" b="1">
                <a:solidFill>
                  <a:srgbClr val="216A93"/>
                </a:solidFill>
                <a:latin typeface="Arial"/>
                <a:ea typeface="Arial"/>
                <a:cs typeface="Arial"/>
              </a:defRPr>
            </a:lvl5pPr>
            <a:lvl6pPr>
              <a:defRPr sz="2775" b="1">
                <a:solidFill>
                  <a:srgbClr val="216A93"/>
                </a:solidFill>
                <a:latin typeface="Arial"/>
                <a:ea typeface="Arial"/>
                <a:cs typeface="Arial"/>
              </a:defRPr>
            </a:lvl6pPr>
            <a:lvl7pPr>
              <a:defRPr sz="2775" b="1">
                <a:solidFill>
                  <a:srgbClr val="216A93"/>
                </a:solidFill>
                <a:latin typeface="Arial"/>
                <a:ea typeface="Arial"/>
                <a:cs typeface="Arial"/>
              </a:defRPr>
            </a:lvl7pPr>
            <a:lvl8pPr>
              <a:defRPr sz="2775" b="1">
                <a:solidFill>
                  <a:srgbClr val="216A93"/>
                </a:solidFill>
                <a:latin typeface="Arial"/>
                <a:ea typeface="Arial"/>
                <a:cs typeface="Arial"/>
              </a:defRPr>
            </a:lvl8pPr>
            <a:lvl9pPr>
              <a:defRPr sz="2775" b="1">
                <a:solidFill>
                  <a:srgbClr val="216A93"/>
                </a:solidFill>
                <a:latin typeface="Arial"/>
                <a:ea typeface="Arial"/>
                <a:cs typeface="Arial"/>
              </a:defRPr>
            </a:lvl9pPr>
          </a:lstStyle>
          <a:p xmlns:a="http://schemas.openxmlformats.org/drawingml/2006/main">
            <a:pPr>
              <a:defRPr sz="2775" b="1">
                <a:solidFill>
                  <a:srgbClr val="216A93"/>
                </a:solidFill>
                <a:latin typeface="Arial"/>
                <a:ea typeface="Arial"/>
                <a:cs typeface="Arial"/>
              </a:defRPr>
            </a:pPr>
            <a:r>
              <a:rPr sz="2775" b="1">
                <a:solidFill>
                  <a:srgbClr val="216A93"/>
                </a:solidFill>
                <a:latin typeface="Arial"/>
                <a:ea typeface="Arial"/>
                <a:cs typeface="Arial"/>
              </a:rPr>
              <a:t>Supported in this cohort: H1, H2, H3</a:t>
            </a:r>
          </a:p>
        </p:txBody>
      </p:sp>
      <p:sp>
        <p:nvSpPr>
          <p:cNvPr id="5" name="">
            <a:extLst xmlns:a="http://schemas.openxmlformats.org/drawingml/2006/main">
              <a:ext uri="{FF2B5EF4-FFF2-40B4-BE49-F238E27FC236}">
                <a16:creationId xmlns:a16="http://schemas.microsoft.com/office/drawing/2014/main" id="{F5A772D4-561F-4C41-9721-6699DCFC65EE}"/>
              </a:ext>
            </a:extLst>
          </p:cNvPr>
          <p:cNvSpPr>
            <a:spLocks xmlns:a="http://schemas.openxmlformats.org/drawingml/2006/main" noGrp="1"/>
          </p:cNvSpPr>
          <p:nvPr/>
        </p:nvSpPr>
        <p:spPr>
          <a:xfrm xmlns:a="http://schemas.openxmlformats.org/drawingml/2006/main">
            <a:off x="571500" y="27146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2D42"/>
                </a:solidFill>
                <a:latin typeface="Arial"/>
                <a:ea typeface="Arial"/>
                <a:cs typeface="Arial"/>
              </a:defRPr>
            </a:defPPr>
            <a:lvl1pPr>
              <a:defRPr sz="2175" b="0">
                <a:solidFill>
                  <a:srgbClr val="182D42"/>
                </a:solidFill>
                <a:latin typeface="Arial"/>
                <a:ea typeface="Arial"/>
                <a:cs typeface="Arial"/>
              </a:defRPr>
            </a:lvl1pPr>
            <a:lvl2pPr>
              <a:defRPr sz="2175" b="0">
                <a:solidFill>
                  <a:srgbClr val="182D42"/>
                </a:solidFill>
                <a:latin typeface="Arial"/>
                <a:ea typeface="Arial"/>
                <a:cs typeface="Arial"/>
              </a:defRPr>
            </a:lvl2pPr>
            <a:lvl3pPr>
              <a:defRPr sz="2175" b="0">
                <a:solidFill>
                  <a:srgbClr val="182D42"/>
                </a:solidFill>
                <a:latin typeface="Arial"/>
                <a:ea typeface="Arial"/>
                <a:cs typeface="Arial"/>
              </a:defRPr>
            </a:lvl3pPr>
            <a:lvl4pPr>
              <a:defRPr sz="2175" b="0">
                <a:solidFill>
                  <a:srgbClr val="182D42"/>
                </a:solidFill>
                <a:latin typeface="Arial"/>
                <a:ea typeface="Arial"/>
                <a:cs typeface="Arial"/>
              </a:defRPr>
            </a:lvl4pPr>
            <a:lvl5pPr>
              <a:defRPr sz="2175" b="0">
                <a:solidFill>
                  <a:srgbClr val="182D42"/>
                </a:solidFill>
                <a:latin typeface="Arial"/>
                <a:ea typeface="Arial"/>
                <a:cs typeface="Arial"/>
              </a:defRPr>
            </a:lvl5pPr>
            <a:lvl6pPr>
              <a:defRPr sz="2175" b="0">
                <a:solidFill>
                  <a:srgbClr val="182D42"/>
                </a:solidFill>
                <a:latin typeface="Arial"/>
                <a:ea typeface="Arial"/>
                <a:cs typeface="Arial"/>
              </a:defRPr>
            </a:lvl6pPr>
            <a:lvl7pPr>
              <a:defRPr sz="2175" b="0">
                <a:solidFill>
                  <a:srgbClr val="182D42"/>
                </a:solidFill>
                <a:latin typeface="Arial"/>
                <a:ea typeface="Arial"/>
                <a:cs typeface="Arial"/>
              </a:defRPr>
            </a:lvl7pPr>
            <a:lvl8pPr>
              <a:defRPr sz="2175" b="0">
                <a:solidFill>
                  <a:srgbClr val="182D42"/>
                </a:solidFill>
                <a:latin typeface="Arial"/>
                <a:ea typeface="Arial"/>
                <a:cs typeface="Arial"/>
              </a:defRPr>
            </a:lvl8pPr>
            <a:lvl9pPr>
              <a:defRPr sz="2175" b="0">
                <a:solidFill>
                  <a:srgbClr val="182D42"/>
                </a:solidFill>
                <a:latin typeface="Arial"/>
                <a:ea typeface="Arial"/>
                <a:cs typeface="Arial"/>
              </a:defRPr>
            </a:lvl9pPr>
          </a:lstStyle>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Transfer performance must be assessed per user</a:t>
            </a:r>
          </a:p>
          <a:p xmlns:a="http://schemas.openxmlformats.org/drawingml/2006/main">
            <a:r>
              <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Offline cleaning uses future unlabelled samples</a:t>
            </a:r>
          </a:p>
          <a:p xmlns:a="http://schemas.openxmlformats.org/drawingml/2006/main">
            <a:r>
              <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Single-flash AUC does not establish online command accuracy</a:t>
            </a:r>
          </a:p>
          <a:p xmlns:a="http://schemas.openxmlformats.org/drawingml/2006/main">
            <a:r>
              <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Independent cohorts are needed for stronger generalization claims</a:t>
            </a:r>
          </a:p>
        </p:txBody>
      </p:sp>
    </p:spTree>
    <p:extLst>
      <p:ext uri="{BB962C8B-B14F-4D97-AF65-F5344CB8AC3E}">
        <p14:creationId xmlns:p14="http://schemas.microsoft.com/office/powerpoint/2010/main" val="39713545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2BCE5A7-7B1A-4618-A535-F2F9AD2A443F}"/>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References and AI disclosure</a:t>
            </a:r>
          </a:p>
        </p:txBody>
      </p:sp>
      <p:sp>
        <p:nvSpPr>
          <p:cNvPr id="3" name="">
            <a:extLst xmlns:a="http://schemas.openxmlformats.org/drawingml/2006/main">
              <a:ext uri="{FF2B5EF4-FFF2-40B4-BE49-F238E27FC236}">
                <a16:creationId xmlns:a16="http://schemas.microsoft.com/office/drawing/2014/main" id="{AC4C6A42-E69B-4FF7-BFC2-A8907C036503}"/>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191F135A-D7B3-4378-BCC2-8DFAA4C74E1E}"/>
              </a:ext>
            </a:extLst>
          </p:cNvPr>
          <p:cNvSpPr>
            <a:spLocks xmlns:a="http://schemas.openxmlformats.org/drawingml/2006/main" noGrp="1"/>
          </p:cNvSpPr>
          <p:nvPr/>
        </p:nvSpPr>
        <p:spPr>
          <a:xfrm xmlns:a="http://schemas.openxmlformats.org/drawingml/2006/main">
            <a:off x="571500" y="147637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2D42"/>
                </a:solidFill>
                <a:latin typeface="Arial"/>
                <a:ea typeface="Arial"/>
                <a:cs typeface="Arial"/>
              </a:defRPr>
            </a:defPPr>
            <a:lvl1pPr>
              <a:defRPr sz="1875" b="0">
                <a:solidFill>
                  <a:srgbClr val="182D42"/>
                </a:solidFill>
                <a:latin typeface="Arial"/>
                <a:ea typeface="Arial"/>
                <a:cs typeface="Arial"/>
              </a:defRPr>
            </a:lvl1pPr>
            <a:lvl2pPr>
              <a:defRPr sz="1875" b="0">
                <a:solidFill>
                  <a:srgbClr val="182D42"/>
                </a:solidFill>
                <a:latin typeface="Arial"/>
                <a:ea typeface="Arial"/>
                <a:cs typeface="Arial"/>
              </a:defRPr>
            </a:lvl2pPr>
            <a:lvl3pPr>
              <a:defRPr sz="1875" b="0">
                <a:solidFill>
                  <a:srgbClr val="182D42"/>
                </a:solidFill>
                <a:latin typeface="Arial"/>
                <a:ea typeface="Arial"/>
                <a:cs typeface="Arial"/>
              </a:defRPr>
            </a:lvl3pPr>
            <a:lvl4pPr>
              <a:defRPr sz="1875" b="0">
                <a:solidFill>
                  <a:srgbClr val="182D42"/>
                </a:solidFill>
                <a:latin typeface="Arial"/>
                <a:ea typeface="Arial"/>
                <a:cs typeface="Arial"/>
              </a:defRPr>
            </a:lvl4pPr>
            <a:lvl5pPr>
              <a:defRPr sz="1875" b="0">
                <a:solidFill>
                  <a:srgbClr val="182D42"/>
                </a:solidFill>
                <a:latin typeface="Arial"/>
                <a:ea typeface="Arial"/>
                <a:cs typeface="Arial"/>
              </a:defRPr>
            </a:lvl5pPr>
            <a:lvl6pPr>
              <a:defRPr sz="1875" b="0">
                <a:solidFill>
                  <a:srgbClr val="182D42"/>
                </a:solidFill>
                <a:latin typeface="Arial"/>
                <a:ea typeface="Arial"/>
                <a:cs typeface="Arial"/>
              </a:defRPr>
            </a:lvl6pPr>
            <a:lvl7pPr>
              <a:defRPr sz="1875" b="0">
                <a:solidFill>
                  <a:srgbClr val="182D42"/>
                </a:solidFill>
                <a:latin typeface="Arial"/>
                <a:ea typeface="Arial"/>
                <a:cs typeface="Arial"/>
              </a:defRPr>
            </a:lvl7pPr>
            <a:lvl8pPr>
              <a:defRPr sz="1875" b="0">
                <a:solidFill>
                  <a:srgbClr val="182D42"/>
                </a:solidFill>
                <a:latin typeface="Arial"/>
                <a:ea typeface="Arial"/>
                <a:cs typeface="Arial"/>
              </a:defRPr>
            </a:lvl8pPr>
            <a:lvl9pPr>
              <a:defRPr sz="1875" b="0">
                <a:solidFill>
                  <a:srgbClr val="182D42"/>
                </a:solidFill>
                <a:latin typeface="Arial"/>
                <a:ea typeface="Arial"/>
                <a:cs typeface="Arial"/>
              </a:defRPr>
            </a:lvl9pPr>
          </a:lstStyle>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Vaineau et al. (2019). Brain Invaders dataset. arXiv:1904.09111</a:t>
            </a:r>
          </a:p>
          <a:p xmlns:a="http://schemas.openxmlformats.org/drawingml/2006/main">
            <a:r>
              <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Barachant &amp; Congedo (2014). Plug&amp;Play P300. arXiv:1409.0107</a:t>
            </a:r>
          </a:p>
          <a:p xmlns:a="http://schemas.openxmlformats.org/drawingml/2006/main">
            <a:r>
              <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Kim &amp; Kim (2025). Zero-training P300. DOI: 10.1109/TNSRE.2025.3603979</a:t>
            </a:r>
          </a:p>
          <a:p xmlns:a="http://schemas.openxmlformats.org/drawingml/2006/main">
            <a:r>
              <a:t/>
            </a:r>
          </a:p>
          <a:p xmlns:a="http://schemas.openxmlformats.org/drawingml/2006/main">
            <a:pPr>
              <a:defRPr sz="1875" b="0">
                <a:solidFill>
                  <a:srgbClr val="182D42"/>
                </a:solidFill>
                <a:latin typeface="Arial"/>
                <a:ea typeface="Arial"/>
                <a:cs typeface="Arial"/>
              </a:defRPr>
            </a:pPr>
            <a:r>
              <a:rPr sz="1875" b="0">
                <a:solidFill>
                  <a:srgbClr val="182D42"/>
                </a:solidFill>
                <a:latin typeface="Arial"/>
                <a:ea typeface="Arial"/>
                <a:cs typeface="Arial"/>
              </a:rPr>
              <a:t>ROBT613 BCI Workshop, notebooks 00–06</a:t>
            </a:r>
          </a:p>
        </p:txBody>
      </p:sp>
      <p:sp>
        <p:nvSpPr>
          <p:cNvPr id="5" name="">
            <a:extLst xmlns:a="http://schemas.openxmlformats.org/drawingml/2006/main">
              <a:ext uri="{FF2B5EF4-FFF2-40B4-BE49-F238E27FC236}">
                <a16:creationId xmlns:a16="http://schemas.microsoft.com/office/drawing/2014/main" id="{F184F137-5A2A-4E45-88A4-DDBFDDBDFD5B}"/>
              </a:ext>
            </a:extLst>
          </p:cNvPr>
          <p:cNvSpPr>
            <a:spLocks xmlns:a="http://schemas.openxmlformats.org/drawingml/2006/main" noGrp="1"/>
          </p:cNvSpPr>
          <p:nvPr/>
        </p:nvSpPr>
        <p:spPr>
          <a:xfrm xmlns:a="http://schemas.openxmlformats.org/drawingml/2006/main">
            <a:off x="571500" y="50958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06477"/>
                </a:solidFill>
                <a:latin typeface="Arial"/>
                <a:ea typeface="Arial"/>
                <a:cs typeface="Arial"/>
              </a:defRPr>
            </a:defPPr>
            <a:lvl1pPr>
              <a:defRPr sz="1950" b="0">
                <a:solidFill>
                  <a:srgbClr val="506477"/>
                </a:solidFill>
                <a:latin typeface="Arial"/>
                <a:ea typeface="Arial"/>
                <a:cs typeface="Arial"/>
              </a:defRPr>
            </a:lvl1pPr>
            <a:lvl2pPr>
              <a:defRPr sz="1950" b="0">
                <a:solidFill>
                  <a:srgbClr val="506477"/>
                </a:solidFill>
                <a:latin typeface="Arial"/>
                <a:ea typeface="Arial"/>
                <a:cs typeface="Arial"/>
              </a:defRPr>
            </a:lvl2pPr>
            <a:lvl3pPr>
              <a:defRPr sz="1950" b="0">
                <a:solidFill>
                  <a:srgbClr val="506477"/>
                </a:solidFill>
                <a:latin typeface="Arial"/>
                <a:ea typeface="Arial"/>
                <a:cs typeface="Arial"/>
              </a:defRPr>
            </a:lvl3pPr>
            <a:lvl4pPr>
              <a:defRPr sz="1950" b="0">
                <a:solidFill>
                  <a:srgbClr val="506477"/>
                </a:solidFill>
                <a:latin typeface="Arial"/>
                <a:ea typeface="Arial"/>
                <a:cs typeface="Arial"/>
              </a:defRPr>
            </a:lvl4pPr>
            <a:lvl5pPr>
              <a:defRPr sz="1950" b="0">
                <a:solidFill>
                  <a:srgbClr val="506477"/>
                </a:solidFill>
                <a:latin typeface="Arial"/>
                <a:ea typeface="Arial"/>
                <a:cs typeface="Arial"/>
              </a:defRPr>
            </a:lvl5pPr>
            <a:lvl6pPr>
              <a:defRPr sz="1950" b="0">
                <a:solidFill>
                  <a:srgbClr val="506477"/>
                </a:solidFill>
                <a:latin typeface="Arial"/>
                <a:ea typeface="Arial"/>
                <a:cs typeface="Arial"/>
              </a:defRPr>
            </a:lvl6pPr>
            <a:lvl7pPr>
              <a:defRPr sz="1950" b="0">
                <a:solidFill>
                  <a:srgbClr val="506477"/>
                </a:solidFill>
                <a:latin typeface="Arial"/>
                <a:ea typeface="Arial"/>
                <a:cs typeface="Arial"/>
              </a:defRPr>
            </a:lvl7pPr>
            <a:lvl8pPr>
              <a:defRPr sz="1950" b="0">
                <a:solidFill>
                  <a:srgbClr val="506477"/>
                </a:solidFill>
                <a:latin typeface="Arial"/>
                <a:ea typeface="Arial"/>
                <a:cs typeface="Arial"/>
              </a:defRPr>
            </a:lvl8pPr>
            <a:lvl9pPr>
              <a:defRPr sz="1950" b="0">
                <a:solidFill>
                  <a:srgbClr val="506477"/>
                </a:solidFill>
                <a:latin typeface="Arial"/>
                <a:ea typeface="Arial"/>
                <a:cs typeface="Arial"/>
              </a:defRPr>
            </a:lvl9pPr>
          </a:lstStyle>
          <a:p xmlns:a="http://schemas.openxmlformats.org/drawingml/2006/main">
            <a:pPr>
              <a:defRPr sz="1950" b="0">
                <a:solidFill>
                  <a:srgbClr val="506477"/>
                </a:solidFill>
                <a:latin typeface="Arial"/>
                <a:ea typeface="Arial"/>
                <a:cs typeface="Arial"/>
              </a:defRPr>
            </a:pPr>
            <a:r>
              <a:rPr sz="1950" b="0">
                <a:solidFill>
                  <a:srgbClr val="506477"/>
                </a:solidFill>
                <a:latin typeface="Arial"/>
                <a:ea typeface="Arial"/>
                <a:cs typeface="Arial"/>
              </a:rPr>
              <a:t>AI assistance: OpenAI Codex supported implementation, execution,</a:t>
            </a:r>
          </a:p>
          <a:p xmlns:a="http://schemas.openxmlformats.org/drawingml/2006/main">
            <a:pPr>
              <a:defRPr sz="1950" b="0">
                <a:solidFill>
                  <a:srgbClr val="506477"/>
                </a:solidFill>
                <a:latin typeface="Arial"/>
                <a:ea typeface="Arial"/>
                <a:cs typeface="Arial"/>
              </a:defRPr>
            </a:pPr>
            <a:r>
              <a:rPr sz="1950" b="0">
                <a:solidFill>
                  <a:srgbClr val="506477"/>
                </a:solidFill>
                <a:latin typeface="Arial"/>
                <a:ea typeface="Arial"/>
                <a:cs typeface="Arial"/>
              </a:rPr>
              <a:t>checks and drafting. The team reviews and defends the submitted work.</a:t>
            </a:r>
          </a:p>
        </p:txBody>
      </p:sp>
    </p:spTree>
    <p:extLst>
      <p:ext uri="{BB962C8B-B14F-4D97-AF65-F5344CB8AC3E}">
        <p14:creationId xmlns:p14="http://schemas.microsoft.com/office/powerpoint/2010/main" val="100023051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7ED1135-EA40-4149-BD1A-6ED6E42EAC6D}"/>
              </a:ext>
            </a:extLst>
          </p:cNvPr>
          <p:cNvSpPr>
            <a:spLocks xmlns:a="http://schemas.openxmlformats.org/drawingml/2006/main" noGrp="1"/>
          </p:cNvSpPr>
          <p:nvPr/>
        </p:nvSpPr>
        <p:spPr>
          <a:xfrm xmlns:a="http://schemas.openxmlformats.org/drawingml/2006/main">
            <a:off x="571500" y="4000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2D42"/>
                </a:solidFill>
                <a:latin typeface="Arial"/>
                <a:ea typeface="Arial"/>
                <a:cs typeface="Arial"/>
              </a:defRPr>
            </a:defPPr>
            <a:lvl1pPr>
              <a:defRPr sz="3225" b="1">
                <a:solidFill>
                  <a:srgbClr val="182D42"/>
                </a:solidFill>
                <a:latin typeface="Arial"/>
                <a:ea typeface="Arial"/>
                <a:cs typeface="Arial"/>
              </a:defRPr>
            </a:lvl1pPr>
            <a:lvl2pPr>
              <a:defRPr sz="3225" b="1">
                <a:solidFill>
                  <a:srgbClr val="182D42"/>
                </a:solidFill>
                <a:latin typeface="Arial"/>
                <a:ea typeface="Arial"/>
                <a:cs typeface="Arial"/>
              </a:defRPr>
            </a:lvl2pPr>
            <a:lvl3pPr>
              <a:defRPr sz="3225" b="1">
                <a:solidFill>
                  <a:srgbClr val="182D42"/>
                </a:solidFill>
                <a:latin typeface="Arial"/>
                <a:ea typeface="Arial"/>
                <a:cs typeface="Arial"/>
              </a:defRPr>
            </a:lvl3pPr>
            <a:lvl4pPr>
              <a:defRPr sz="3225" b="1">
                <a:solidFill>
                  <a:srgbClr val="182D42"/>
                </a:solidFill>
                <a:latin typeface="Arial"/>
                <a:ea typeface="Arial"/>
                <a:cs typeface="Arial"/>
              </a:defRPr>
            </a:lvl4pPr>
            <a:lvl5pPr>
              <a:defRPr sz="3225" b="1">
                <a:solidFill>
                  <a:srgbClr val="182D42"/>
                </a:solidFill>
                <a:latin typeface="Arial"/>
                <a:ea typeface="Arial"/>
                <a:cs typeface="Arial"/>
              </a:defRPr>
            </a:lvl5pPr>
            <a:lvl6pPr>
              <a:defRPr sz="3225" b="1">
                <a:solidFill>
                  <a:srgbClr val="182D42"/>
                </a:solidFill>
                <a:latin typeface="Arial"/>
                <a:ea typeface="Arial"/>
                <a:cs typeface="Arial"/>
              </a:defRPr>
            </a:lvl6pPr>
            <a:lvl7pPr>
              <a:defRPr sz="3225" b="1">
                <a:solidFill>
                  <a:srgbClr val="182D42"/>
                </a:solidFill>
                <a:latin typeface="Arial"/>
                <a:ea typeface="Arial"/>
                <a:cs typeface="Arial"/>
              </a:defRPr>
            </a:lvl7pPr>
            <a:lvl8pPr>
              <a:defRPr sz="3225" b="1">
                <a:solidFill>
                  <a:srgbClr val="182D42"/>
                </a:solidFill>
                <a:latin typeface="Arial"/>
                <a:ea typeface="Arial"/>
                <a:cs typeface="Arial"/>
              </a:defRPr>
            </a:lvl8pPr>
            <a:lvl9pPr>
              <a:defRPr sz="3225" b="1">
                <a:solidFill>
                  <a:srgbClr val="182D42"/>
                </a:solidFill>
                <a:latin typeface="Arial"/>
                <a:ea typeface="Arial"/>
                <a:cs typeface="Arial"/>
              </a:defRPr>
            </a:lvl9pPr>
          </a:lstStyle>
          <a:p xmlns:a="http://schemas.openxmlformats.org/drawingml/2006/main">
            <a:pPr>
              <a:defRPr sz="3225" b="1">
                <a:solidFill>
                  <a:srgbClr val="182D42"/>
                </a:solidFill>
                <a:latin typeface="Arial"/>
                <a:ea typeface="Arial"/>
                <a:cs typeface="Arial"/>
              </a:defRPr>
            </a:pPr>
            <a:r>
              <a:rPr sz="3225" b="1">
                <a:solidFill>
                  <a:srgbClr val="182D42"/>
                </a:solidFill>
                <a:latin typeface="Arial"/>
                <a:ea typeface="Arial"/>
                <a:cs typeface="Arial"/>
              </a:rPr>
              <a:t>Reproducibility record</a:t>
            </a:r>
          </a:p>
        </p:txBody>
      </p:sp>
      <p:sp>
        <p:nvSpPr>
          <p:cNvPr id="3" name="">
            <a:extLst xmlns:a="http://schemas.openxmlformats.org/drawingml/2006/main">
              <a:ext uri="{FF2B5EF4-FFF2-40B4-BE49-F238E27FC236}">
                <a16:creationId xmlns:a16="http://schemas.microsoft.com/office/drawing/2014/main" id="{596C22DE-6351-45DC-87A0-E242629D3195}"/>
              </a:ext>
            </a:extLst>
          </p:cNvPr>
          <p:cNvSpPr>
            <a:spLocks xmlns:a="http://schemas.openxmlformats.org/drawingml/2006/main" noGrp="1"/>
          </p:cNvSpPr>
          <p:nvPr/>
        </p:nvSpPr>
        <p:spPr>
          <a:xfrm xmlns:a="http://schemas.openxmlformats.org/drawingml/2006/main">
            <a:off x="11049000" y="63912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477"/>
                </a:solidFill>
                <a:latin typeface="Arial"/>
                <a:ea typeface="Arial"/>
                <a:cs typeface="Arial"/>
              </a:defRPr>
            </a:defPPr>
            <a:lvl1pPr>
              <a:defRPr sz="1275" b="0">
                <a:solidFill>
                  <a:srgbClr val="506477"/>
                </a:solidFill>
                <a:latin typeface="Arial"/>
                <a:ea typeface="Arial"/>
                <a:cs typeface="Arial"/>
              </a:defRPr>
            </a:lvl1pPr>
            <a:lvl2pPr>
              <a:defRPr sz="1275" b="0">
                <a:solidFill>
                  <a:srgbClr val="506477"/>
                </a:solidFill>
                <a:latin typeface="Arial"/>
                <a:ea typeface="Arial"/>
                <a:cs typeface="Arial"/>
              </a:defRPr>
            </a:lvl2pPr>
            <a:lvl3pPr>
              <a:defRPr sz="1275" b="0">
                <a:solidFill>
                  <a:srgbClr val="506477"/>
                </a:solidFill>
                <a:latin typeface="Arial"/>
                <a:ea typeface="Arial"/>
                <a:cs typeface="Arial"/>
              </a:defRPr>
            </a:lvl3pPr>
            <a:lvl4pPr>
              <a:defRPr sz="1275" b="0">
                <a:solidFill>
                  <a:srgbClr val="506477"/>
                </a:solidFill>
                <a:latin typeface="Arial"/>
                <a:ea typeface="Arial"/>
                <a:cs typeface="Arial"/>
              </a:defRPr>
            </a:lvl4pPr>
            <a:lvl5pPr>
              <a:defRPr sz="1275" b="0">
                <a:solidFill>
                  <a:srgbClr val="506477"/>
                </a:solidFill>
                <a:latin typeface="Arial"/>
                <a:ea typeface="Arial"/>
                <a:cs typeface="Arial"/>
              </a:defRPr>
            </a:lvl5pPr>
            <a:lvl6pPr>
              <a:defRPr sz="1275" b="0">
                <a:solidFill>
                  <a:srgbClr val="506477"/>
                </a:solidFill>
                <a:latin typeface="Arial"/>
                <a:ea typeface="Arial"/>
                <a:cs typeface="Arial"/>
              </a:defRPr>
            </a:lvl6pPr>
            <a:lvl7pPr>
              <a:defRPr sz="1275" b="0">
                <a:solidFill>
                  <a:srgbClr val="506477"/>
                </a:solidFill>
                <a:latin typeface="Arial"/>
                <a:ea typeface="Arial"/>
                <a:cs typeface="Arial"/>
              </a:defRPr>
            </a:lvl7pPr>
            <a:lvl8pPr>
              <a:defRPr sz="1275" b="0">
                <a:solidFill>
                  <a:srgbClr val="506477"/>
                </a:solidFill>
                <a:latin typeface="Arial"/>
                <a:ea typeface="Arial"/>
                <a:cs typeface="Arial"/>
              </a:defRPr>
            </a:lvl8pPr>
            <a:lvl9pPr>
              <a:defRPr sz="1275" b="0">
                <a:solidFill>
                  <a:srgbClr val="506477"/>
                </a:solidFill>
                <a:latin typeface="Arial"/>
                <a:ea typeface="Arial"/>
                <a:cs typeface="Arial"/>
              </a:defRPr>
            </a:lvl9pPr>
          </a:lstStyle>
          <a:p xmlns:a="http://schemas.openxmlformats.org/drawingml/2006/main">
            <a:pPr>
              <a:defRPr sz="1275" b="0">
                <a:solidFill>
                  <a:srgbClr val="506477"/>
                </a:solidFill>
                <a:latin typeface="Arial"/>
                <a:ea typeface="Arial"/>
                <a:cs typeface="Arial"/>
              </a:defRPr>
            </a:pPr>
            <a:r>
              <a:rPr sz="1275" b="0">
                <a:solidFill>
                  <a:srgbClr val="506477"/>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802DAD52-7C53-4883-8AB9-12DBC080D300}"/>
              </a:ext>
            </a:extLst>
          </p:cNvPr>
          <p:cNvGraphicFramePr/>
          <p:nvPr/>
        </p:nvGraphicFramePr>
        <p:xfrm>
          <a:off xmlns:a="http://schemas.openxmlformats.org/drawingml/2006/main" x="571500" y="1476375"/>
          <a:ext xmlns:a="http://schemas.openxmlformats.org/drawingml/2006/main" cx="6191250" cy="4095750"/>
        </p:xfrm>
        <a:graphic xmlns:a="http://schemas.openxmlformats.org/drawingml/2006/main">
          <a:graphicData uri="http://schemas.openxmlformats.org/drawingml/2006/table">
            <a:tbl>
              <a:tblPr/>
              <a:tblGrid>
                <a:gridCol w="3429000"/>
                <a:gridCol w="2762250"/>
              </a:tblGrid>
              <a:tr h="372341">
                <a:tc>
                  <a:txBody>
                    <a:bodyPr/>
                    <a:lstStyle/>
                    <a:p>
                      <a:r>
                        <a:rPr sz="1875" b="1">
                          <a:solidFill>
                            <a:srgbClr val="FFFFFF"/>
                          </a:solidFill>
                          <a:latin typeface="Arial"/>
                          <a:ea typeface="Arial"/>
                          <a:cs typeface="Arial"/>
                        </a:rPr>
                        <a:t>Package</a:t>
                      </a:r>
                    </a:p>
                  </a:txBody>
                  <a:tcPr marL="91440" marR="91440" marT="45720" marB="45720">
                    <a:lnL w="9525">
                      <a:solidFill>
                        <a:srgbClr val="D6E0E7"/>
                      </a:solidFill>
                      <a:prstDash val="solid"/>
                    </a:lnL>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c>
                  <a:txBody>
                    <a:bodyPr/>
                    <a:lstStyle/>
                    <a:p>
                      <a:r>
                        <a:rPr sz="1875" b="1">
                          <a:solidFill>
                            <a:srgbClr val="FFFFFF"/>
                          </a:solidFill>
                          <a:latin typeface="Arial"/>
                          <a:ea typeface="Arial"/>
                          <a:cs typeface="Arial"/>
                        </a:rPr>
                        <a:t>Version</a:t>
                      </a:r>
                    </a:p>
                  </a:txBody>
                  <a:tcPr marL="91440" marR="91440" marT="45720" marB="45720">
                    <a:lnR w="9525">
                      <a:solidFill>
                        <a:srgbClr val="D6E0E7"/>
                      </a:solidFill>
                      <a:prstDash val="solid"/>
                    </a:lnR>
                    <a:lnT w="9525">
                      <a:solidFill>
                        <a:srgbClr val="D6E0E7"/>
                      </a:solidFill>
                      <a:prstDash val="solid"/>
                    </a:lnT>
                    <a:lnB w="9525">
                      <a:solidFill>
                        <a:srgbClr val="D6E0E7"/>
                      </a:solidFill>
                      <a:prstDash val="solid"/>
                    </a:lnB>
                    <a:solidFill>
                      <a:srgbClr val="182D42"/>
                    </a:solidFill>
                  </a:tcPr>
                </a:tc>
              </a:tr>
              <a:tr h="372341">
                <a:tc>
                  <a:txBody>
                    <a:bodyPr/>
                    <a:lstStyle/>
                    <a:p>
                      <a:r>
                        <a:rPr sz="1875" b="0">
                          <a:solidFill>
                            <a:srgbClr val="182D42"/>
                          </a:solidFill>
                          <a:latin typeface="Arial"/>
                          <a:ea typeface="Arial"/>
                          <a:cs typeface="Arial"/>
                        </a:rPr>
                        <a:t>mne</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1.13.2</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moabb</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1.7.2</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numpy</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2.5.4</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scipy</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1.18.1</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pandas</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2.3.3</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scikit-learn</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1.9.1</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matplotlib</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3.11.2</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PyYAML</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6.0.3</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remotezip</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0.12.6</a:t>
                      </a:r>
                    </a:p>
                  </a:txBody>
                  <a:tcPr marL="91440" marR="91440" marT="45720" marB="45720">
                    <a:lnR w="9525">
                      <a:solidFill>
                        <a:srgbClr val="D6E0E7"/>
                      </a:solidFill>
                      <a:prstDash val="solid"/>
                    </a:lnR>
                    <a:lnB w="9525">
                      <a:solidFill>
                        <a:srgbClr val="D6E0E7"/>
                      </a:solidFill>
                      <a:prstDash val="solid"/>
                    </a:lnB>
                    <a:solidFill>
                      <a:srgbClr val="FFFFFF"/>
                    </a:solidFill>
                  </a:tcPr>
                </a:tc>
              </a:tr>
              <a:tr h="372341">
                <a:tc>
                  <a:txBody>
                    <a:bodyPr/>
                    <a:lstStyle/>
                    <a:p>
                      <a:r>
                        <a:rPr sz="1875" b="0">
                          <a:solidFill>
                            <a:srgbClr val="182D42"/>
                          </a:solidFill>
                          <a:latin typeface="Arial"/>
                          <a:ea typeface="Arial"/>
                          <a:cs typeface="Arial"/>
                        </a:rPr>
                        <a:t>threadpoolctl</a:t>
                      </a:r>
                    </a:p>
                  </a:txBody>
                  <a:tcPr marL="91440" marR="91440" marT="45720" marB="45720">
                    <a:lnL w="9525">
                      <a:solidFill>
                        <a:srgbClr val="D6E0E7"/>
                      </a:solidFill>
                      <a:prstDash val="solid"/>
                    </a:lnL>
                    <a:lnR w="9525">
                      <a:solidFill>
                        <a:srgbClr val="D6E0E7"/>
                      </a:solidFill>
                      <a:prstDash val="solid"/>
                    </a:lnR>
                    <a:lnB w="9525">
                      <a:solidFill>
                        <a:srgbClr val="D6E0E7"/>
                      </a:solidFill>
                      <a:prstDash val="solid"/>
                    </a:lnB>
                    <a:solidFill>
                      <a:srgbClr val="FFFFFF"/>
                    </a:solidFill>
                  </a:tcPr>
                </a:tc>
                <a:tc>
                  <a:txBody>
                    <a:bodyPr/>
                    <a:lstStyle/>
                    <a:p>
                      <a:r>
                        <a:rPr sz="1875" b="0">
                          <a:solidFill>
                            <a:srgbClr val="182D42"/>
                          </a:solidFill>
                          <a:latin typeface="Arial"/>
                          <a:ea typeface="Arial"/>
                          <a:cs typeface="Arial"/>
                        </a:rPr>
                        <a:t>3.7.0</a:t>
                      </a:r>
                    </a:p>
                  </a:txBody>
                  <a:tcPr marL="91440" marR="91440" marT="45720" marB="45720">
                    <a:lnR w="9525">
                      <a:solidFill>
                        <a:srgbClr val="D6E0E7"/>
                      </a:solidFill>
                      <a:prstDash val="solid"/>
                    </a:lnR>
                    <a:lnB w="9525">
                      <a:solidFill>
                        <a:srgbClr val="D6E0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F8CC7F3-B3B0-4660-9C5A-89756BF28E4F}"/>
              </a:ext>
            </a:extLst>
          </p:cNvPr>
          <p:cNvSpPr>
            <a:spLocks xmlns:a="http://schemas.openxmlformats.org/drawingml/2006/main" noGrp="1"/>
          </p:cNvSpPr>
          <p:nvPr/>
        </p:nvSpPr>
        <p:spPr>
          <a:xfrm xmlns:a="http://schemas.openxmlformats.org/drawingml/2006/main">
            <a:off x="7429500" y="1619250"/>
            <a:ext cx="40957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2D42"/>
                </a:solidFill>
                <a:latin typeface="Arial"/>
                <a:ea typeface="Arial"/>
                <a:cs typeface="Arial"/>
              </a:defRPr>
            </a:defPPr>
            <a:lvl1pPr>
              <a:defRPr sz="2175" b="0">
                <a:solidFill>
                  <a:srgbClr val="182D42"/>
                </a:solidFill>
                <a:latin typeface="Arial"/>
                <a:ea typeface="Arial"/>
                <a:cs typeface="Arial"/>
              </a:defRPr>
            </a:lvl1pPr>
            <a:lvl2pPr>
              <a:defRPr sz="2175" b="0">
                <a:solidFill>
                  <a:srgbClr val="182D42"/>
                </a:solidFill>
                <a:latin typeface="Arial"/>
                <a:ea typeface="Arial"/>
                <a:cs typeface="Arial"/>
              </a:defRPr>
            </a:lvl2pPr>
            <a:lvl3pPr>
              <a:defRPr sz="2175" b="0">
                <a:solidFill>
                  <a:srgbClr val="182D42"/>
                </a:solidFill>
                <a:latin typeface="Arial"/>
                <a:ea typeface="Arial"/>
                <a:cs typeface="Arial"/>
              </a:defRPr>
            </a:lvl3pPr>
            <a:lvl4pPr>
              <a:defRPr sz="2175" b="0">
                <a:solidFill>
                  <a:srgbClr val="182D42"/>
                </a:solidFill>
                <a:latin typeface="Arial"/>
                <a:ea typeface="Arial"/>
                <a:cs typeface="Arial"/>
              </a:defRPr>
            </a:lvl4pPr>
            <a:lvl5pPr>
              <a:defRPr sz="2175" b="0">
                <a:solidFill>
                  <a:srgbClr val="182D42"/>
                </a:solidFill>
                <a:latin typeface="Arial"/>
                <a:ea typeface="Arial"/>
                <a:cs typeface="Arial"/>
              </a:defRPr>
            </a:lvl5pPr>
            <a:lvl6pPr>
              <a:defRPr sz="2175" b="0">
                <a:solidFill>
                  <a:srgbClr val="182D42"/>
                </a:solidFill>
                <a:latin typeface="Arial"/>
                <a:ea typeface="Arial"/>
                <a:cs typeface="Arial"/>
              </a:defRPr>
            </a:lvl6pPr>
            <a:lvl7pPr>
              <a:defRPr sz="2175" b="0">
                <a:solidFill>
                  <a:srgbClr val="182D42"/>
                </a:solidFill>
                <a:latin typeface="Arial"/>
                <a:ea typeface="Arial"/>
                <a:cs typeface="Arial"/>
              </a:defRPr>
            </a:lvl7pPr>
            <a:lvl8pPr>
              <a:defRPr sz="2175" b="0">
                <a:solidFill>
                  <a:srgbClr val="182D42"/>
                </a:solidFill>
                <a:latin typeface="Arial"/>
                <a:ea typeface="Arial"/>
                <a:cs typeface="Arial"/>
              </a:defRPr>
            </a:lvl8pPr>
            <a:lvl9pPr>
              <a:defRPr sz="2175" b="0">
                <a:solidFill>
                  <a:srgbClr val="182D42"/>
                </a:solidFill>
                <a:latin typeface="Arial"/>
                <a:ea typeface="Arial"/>
                <a:cs typeface="Arial"/>
              </a:defRPr>
            </a:lvl9pPr>
          </a:lstStyle>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17 subjects</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Seed 613</a:t>
            </a:r>
          </a:p>
          <a:p xmlns:a="http://schemas.openxmlformats.org/drawingml/2006/main">
            <a:r>
              <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Full run: 7.41 min</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Google Colab</a:t>
            </a:r>
          </a:p>
          <a:p xmlns:a="http://schemas.openxmlformats.org/drawingml/2006/main">
            <a:r>
              <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Empty data cache</a:t>
            </a:r>
          </a:p>
          <a:p xmlns:a="http://schemas.openxmlformats.org/drawingml/2006/main">
            <a:pPr>
              <a:defRPr sz="2175" b="0">
                <a:solidFill>
                  <a:srgbClr val="182D42"/>
                </a:solidFill>
                <a:latin typeface="Arial"/>
                <a:ea typeface="Arial"/>
                <a:cs typeface="Arial"/>
              </a:defRPr>
            </a:pPr>
            <a:r>
              <a:rPr sz="2175" b="0">
                <a:solidFill>
                  <a:srgbClr val="182D42"/>
                </a:solidFill>
                <a:latin typeface="Arial"/>
                <a:ea typeface="Arial"/>
                <a:cs typeface="Arial"/>
              </a:rPr>
              <a:t>Verified</a:t>
            </a:r>
          </a:p>
        </p:txBody>
      </p:sp>
    </p:spTree>
    <p:extLst>
      <p:ext uri="{BB962C8B-B14F-4D97-AF65-F5344CB8AC3E}">
        <p14:creationId xmlns:p14="http://schemas.microsoft.com/office/powerpoint/2010/main" val="13758745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2026-10-27T15:22:03.7700000Z</dcterms:created>
  <dcterms:modified xsi:type="dcterms:W3CDTF">2026-10-27T15:22:03.7700000Z</dcterms:modified>
</coreProperties>
</file>